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3987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11" autoAdjust="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55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73C69B-EA13-4CE0-8AC8-E73D4889DA5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0020CA2-1010-450B-B385-9C36E16D9185}">
      <dgm:prSet phldrT="[Texto]"/>
      <dgm:spPr/>
      <dgm:t>
        <a:bodyPr/>
        <a:lstStyle/>
        <a:p>
          <a:r>
            <a:rPr lang="es-AR" noProof="0" dirty="0"/>
            <a:t>Entrada</a:t>
          </a:r>
        </a:p>
      </dgm:t>
    </dgm:pt>
    <dgm:pt modelId="{0DE3E480-FC0A-49A6-A680-0F72A8B8FD4A}" type="parTrans" cxnId="{1C902601-5082-4E44-A7D6-FBAD1ED43769}">
      <dgm:prSet/>
      <dgm:spPr/>
      <dgm:t>
        <a:bodyPr/>
        <a:lstStyle/>
        <a:p>
          <a:endParaRPr lang="es-AR" noProof="0"/>
        </a:p>
      </dgm:t>
    </dgm:pt>
    <dgm:pt modelId="{68F4C9D7-337A-4366-A6A0-F801F0B99299}" type="sibTrans" cxnId="{1C902601-5082-4E44-A7D6-FBAD1ED43769}">
      <dgm:prSet/>
      <dgm:spPr/>
      <dgm:t>
        <a:bodyPr/>
        <a:lstStyle/>
        <a:p>
          <a:endParaRPr lang="es-AR" noProof="0"/>
        </a:p>
      </dgm:t>
    </dgm:pt>
    <dgm:pt modelId="{632DB8C5-4F0C-42F8-9792-0EA193659616}">
      <dgm:prSet phldrT="[Texto]"/>
      <dgm:spPr/>
      <dgm:t>
        <a:bodyPr/>
        <a:lstStyle/>
        <a:p>
          <a:r>
            <a:rPr lang="es-AR" noProof="0" dirty="0"/>
            <a:t>CPU</a:t>
          </a:r>
        </a:p>
      </dgm:t>
    </dgm:pt>
    <dgm:pt modelId="{0F1F45DD-E6D0-4885-AB74-A19D21F8FA09}" type="parTrans" cxnId="{0DFA1236-8C0C-4EF6-A040-34E413D4FA03}">
      <dgm:prSet/>
      <dgm:spPr/>
      <dgm:t>
        <a:bodyPr/>
        <a:lstStyle/>
        <a:p>
          <a:endParaRPr lang="es-AR" noProof="0"/>
        </a:p>
      </dgm:t>
    </dgm:pt>
    <dgm:pt modelId="{1A2BA235-922B-4EA2-AAFC-469CEAD374CF}" type="sibTrans" cxnId="{0DFA1236-8C0C-4EF6-A040-34E413D4FA03}">
      <dgm:prSet/>
      <dgm:spPr/>
      <dgm:t>
        <a:bodyPr/>
        <a:lstStyle/>
        <a:p>
          <a:endParaRPr lang="es-AR" noProof="0"/>
        </a:p>
      </dgm:t>
    </dgm:pt>
    <dgm:pt modelId="{F84CE22F-3744-4F32-ADA1-27CEB3C1C31A}">
      <dgm:prSet phldrT="[Texto]"/>
      <dgm:spPr/>
      <dgm:t>
        <a:bodyPr/>
        <a:lstStyle/>
        <a:p>
          <a:r>
            <a:rPr lang="es-AR" noProof="0" dirty="0"/>
            <a:t>Salida</a:t>
          </a:r>
        </a:p>
      </dgm:t>
    </dgm:pt>
    <dgm:pt modelId="{F9CDDFED-AA71-4968-8BB1-A48894F6D4AE}" type="parTrans" cxnId="{81A928FB-005C-40AD-99C8-D8256C5B1E3F}">
      <dgm:prSet/>
      <dgm:spPr/>
      <dgm:t>
        <a:bodyPr/>
        <a:lstStyle/>
        <a:p>
          <a:endParaRPr lang="es-AR" noProof="0"/>
        </a:p>
      </dgm:t>
    </dgm:pt>
    <dgm:pt modelId="{9F90C44F-DCE1-4F8B-8E99-7F21892B1A41}" type="sibTrans" cxnId="{81A928FB-005C-40AD-99C8-D8256C5B1E3F}">
      <dgm:prSet/>
      <dgm:spPr/>
      <dgm:t>
        <a:bodyPr/>
        <a:lstStyle/>
        <a:p>
          <a:endParaRPr lang="es-AR" noProof="0"/>
        </a:p>
      </dgm:t>
    </dgm:pt>
    <dgm:pt modelId="{55716A0A-BB5F-4519-A0D5-90DBC9D5BC74}" type="pres">
      <dgm:prSet presAssocID="{7773C69B-EA13-4CE0-8AC8-E73D4889DA5C}" presName="Name0" presStyleCnt="0">
        <dgm:presLayoutVars>
          <dgm:dir/>
          <dgm:resizeHandles val="exact"/>
        </dgm:presLayoutVars>
      </dgm:prSet>
      <dgm:spPr/>
    </dgm:pt>
    <dgm:pt modelId="{1C1CBF2B-52AF-4204-86C4-13EEB01BF9A4}" type="pres">
      <dgm:prSet presAssocID="{60020CA2-1010-450B-B385-9C36E16D9185}" presName="node" presStyleLbl="node1" presStyleIdx="0" presStyleCnt="3">
        <dgm:presLayoutVars>
          <dgm:bulletEnabled val="1"/>
        </dgm:presLayoutVars>
      </dgm:prSet>
      <dgm:spPr/>
    </dgm:pt>
    <dgm:pt modelId="{193D08EF-D665-4451-9932-FD36289FEDB5}" type="pres">
      <dgm:prSet presAssocID="{68F4C9D7-337A-4366-A6A0-F801F0B99299}" presName="sibTrans" presStyleLbl="sibTrans2D1" presStyleIdx="0" presStyleCnt="2"/>
      <dgm:spPr/>
    </dgm:pt>
    <dgm:pt modelId="{DC358ECC-22B0-481A-A549-4547F1D7AB33}" type="pres">
      <dgm:prSet presAssocID="{68F4C9D7-337A-4366-A6A0-F801F0B99299}" presName="connectorText" presStyleLbl="sibTrans2D1" presStyleIdx="0" presStyleCnt="2"/>
      <dgm:spPr/>
    </dgm:pt>
    <dgm:pt modelId="{DD125002-49F0-4189-A8B6-2088FC75BC76}" type="pres">
      <dgm:prSet presAssocID="{632DB8C5-4F0C-42F8-9792-0EA193659616}" presName="node" presStyleLbl="node1" presStyleIdx="1" presStyleCnt="3" custScaleX="140034" custScaleY="176811">
        <dgm:presLayoutVars>
          <dgm:bulletEnabled val="1"/>
        </dgm:presLayoutVars>
      </dgm:prSet>
      <dgm:spPr/>
    </dgm:pt>
    <dgm:pt modelId="{54125474-0F9E-4803-B0C5-43C607391F03}" type="pres">
      <dgm:prSet presAssocID="{1A2BA235-922B-4EA2-AAFC-469CEAD374CF}" presName="sibTrans" presStyleLbl="sibTrans2D1" presStyleIdx="1" presStyleCnt="2"/>
      <dgm:spPr/>
    </dgm:pt>
    <dgm:pt modelId="{43A16DB2-0D90-4B93-9B99-35FC92633B28}" type="pres">
      <dgm:prSet presAssocID="{1A2BA235-922B-4EA2-AAFC-469CEAD374CF}" presName="connectorText" presStyleLbl="sibTrans2D1" presStyleIdx="1" presStyleCnt="2"/>
      <dgm:spPr/>
    </dgm:pt>
    <dgm:pt modelId="{8B0E6AF2-97B7-41B1-8CBC-55C634E3C936}" type="pres">
      <dgm:prSet presAssocID="{F84CE22F-3744-4F32-ADA1-27CEB3C1C31A}" presName="node" presStyleLbl="node1" presStyleIdx="2" presStyleCnt="3">
        <dgm:presLayoutVars>
          <dgm:bulletEnabled val="1"/>
        </dgm:presLayoutVars>
      </dgm:prSet>
      <dgm:spPr/>
    </dgm:pt>
  </dgm:ptLst>
  <dgm:cxnLst>
    <dgm:cxn modelId="{1C902601-5082-4E44-A7D6-FBAD1ED43769}" srcId="{7773C69B-EA13-4CE0-8AC8-E73D4889DA5C}" destId="{60020CA2-1010-450B-B385-9C36E16D9185}" srcOrd="0" destOrd="0" parTransId="{0DE3E480-FC0A-49A6-A680-0F72A8B8FD4A}" sibTransId="{68F4C9D7-337A-4366-A6A0-F801F0B99299}"/>
    <dgm:cxn modelId="{0DFA1236-8C0C-4EF6-A040-34E413D4FA03}" srcId="{7773C69B-EA13-4CE0-8AC8-E73D4889DA5C}" destId="{632DB8C5-4F0C-42F8-9792-0EA193659616}" srcOrd="1" destOrd="0" parTransId="{0F1F45DD-E6D0-4885-AB74-A19D21F8FA09}" sibTransId="{1A2BA235-922B-4EA2-AAFC-469CEAD374CF}"/>
    <dgm:cxn modelId="{D6A0543E-359E-4321-96E2-B9903FA7F6A6}" type="presOf" srcId="{7773C69B-EA13-4CE0-8AC8-E73D4889DA5C}" destId="{55716A0A-BB5F-4519-A0D5-90DBC9D5BC74}" srcOrd="0" destOrd="0" presId="urn:microsoft.com/office/officeart/2005/8/layout/process1"/>
    <dgm:cxn modelId="{935C7E45-5A5B-4F15-96CD-53F1EE353E6C}" type="presOf" srcId="{632DB8C5-4F0C-42F8-9792-0EA193659616}" destId="{DD125002-49F0-4189-A8B6-2088FC75BC76}" srcOrd="0" destOrd="0" presId="urn:microsoft.com/office/officeart/2005/8/layout/process1"/>
    <dgm:cxn modelId="{0F09D955-1AB3-4A3F-A992-B74D2804633B}" type="presOf" srcId="{F84CE22F-3744-4F32-ADA1-27CEB3C1C31A}" destId="{8B0E6AF2-97B7-41B1-8CBC-55C634E3C936}" srcOrd="0" destOrd="0" presId="urn:microsoft.com/office/officeart/2005/8/layout/process1"/>
    <dgm:cxn modelId="{0A5EE58A-20DB-4FD3-A111-37ACDBFEDD87}" type="presOf" srcId="{68F4C9D7-337A-4366-A6A0-F801F0B99299}" destId="{DC358ECC-22B0-481A-A549-4547F1D7AB33}" srcOrd="1" destOrd="0" presId="urn:microsoft.com/office/officeart/2005/8/layout/process1"/>
    <dgm:cxn modelId="{DD11F79F-9E2D-457E-861F-8230095C6C97}" type="presOf" srcId="{60020CA2-1010-450B-B385-9C36E16D9185}" destId="{1C1CBF2B-52AF-4204-86C4-13EEB01BF9A4}" srcOrd="0" destOrd="0" presId="urn:microsoft.com/office/officeart/2005/8/layout/process1"/>
    <dgm:cxn modelId="{9A3979B4-5BB3-43E7-B578-FEB6E89A1FAA}" type="presOf" srcId="{68F4C9D7-337A-4366-A6A0-F801F0B99299}" destId="{193D08EF-D665-4451-9932-FD36289FEDB5}" srcOrd="0" destOrd="0" presId="urn:microsoft.com/office/officeart/2005/8/layout/process1"/>
    <dgm:cxn modelId="{77D794B9-4B36-4315-B889-071F2DA29C96}" type="presOf" srcId="{1A2BA235-922B-4EA2-AAFC-469CEAD374CF}" destId="{54125474-0F9E-4803-B0C5-43C607391F03}" srcOrd="0" destOrd="0" presId="urn:microsoft.com/office/officeart/2005/8/layout/process1"/>
    <dgm:cxn modelId="{21FEE3F7-09B3-46AA-A0E6-3EC2CF5EB85F}" type="presOf" srcId="{1A2BA235-922B-4EA2-AAFC-469CEAD374CF}" destId="{43A16DB2-0D90-4B93-9B99-35FC92633B28}" srcOrd="1" destOrd="0" presId="urn:microsoft.com/office/officeart/2005/8/layout/process1"/>
    <dgm:cxn modelId="{81A928FB-005C-40AD-99C8-D8256C5B1E3F}" srcId="{7773C69B-EA13-4CE0-8AC8-E73D4889DA5C}" destId="{F84CE22F-3744-4F32-ADA1-27CEB3C1C31A}" srcOrd="2" destOrd="0" parTransId="{F9CDDFED-AA71-4968-8BB1-A48894F6D4AE}" sibTransId="{9F90C44F-DCE1-4F8B-8E99-7F21892B1A41}"/>
    <dgm:cxn modelId="{CAD7FD1A-EDF9-4238-A542-FEE360EA12BD}" type="presParOf" srcId="{55716A0A-BB5F-4519-A0D5-90DBC9D5BC74}" destId="{1C1CBF2B-52AF-4204-86C4-13EEB01BF9A4}" srcOrd="0" destOrd="0" presId="urn:microsoft.com/office/officeart/2005/8/layout/process1"/>
    <dgm:cxn modelId="{166E5E88-A18A-4D0F-ACDE-7997C42E1506}" type="presParOf" srcId="{55716A0A-BB5F-4519-A0D5-90DBC9D5BC74}" destId="{193D08EF-D665-4451-9932-FD36289FEDB5}" srcOrd="1" destOrd="0" presId="urn:microsoft.com/office/officeart/2005/8/layout/process1"/>
    <dgm:cxn modelId="{CA3EF289-81C3-457C-9283-0B7E1700515E}" type="presParOf" srcId="{193D08EF-D665-4451-9932-FD36289FEDB5}" destId="{DC358ECC-22B0-481A-A549-4547F1D7AB33}" srcOrd="0" destOrd="0" presId="urn:microsoft.com/office/officeart/2005/8/layout/process1"/>
    <dgm:cxn modelId="{9D9A5197-4F11-4830-B5A7-A7C1582F1FCD}" type="presParOf" srcId="{55716A0A-BB5F-4519-A0D5-90DBC9D5BC74}" destId="{DD125002-49F0-4189-A8B6-2088FC75BC76}" srcOrd="2" destOrd="0" presId="urn:microsoft.com/office/officeart/2005/8/layout/process1"/>
    <dgm:cxn modelId="{6C733B44-23F2-4098-A96E-0EDD794FB00A}" type="presParOf" srcId="{55716A0A-BB5F-4519-A0D5-90DBC9D5BC74}" destId="{54125474-0F9E-4803-B0C5-43C607391F03}" srcOrd="3" destOrd="0" presId="urn:microsoft.com/office/officeart/2005/8/layout/process1"/>
    <dgm:cxn modelId="{2FE0AA6E-9688-4D41-9EAC-83608847876A}" type="presParOf" srcId="{54125474-0F9E-4803-B0C5-43C607391F03}" destId="{43A16DB2-0D90-4B93-9B99-35FC92633B28}" srcOrd="0" destOrd="0" presId="urn:microsoft.com/office/officeart/2005/8/layout/process1"/>
    <dgm:cxn modelId="{CBDE4EA4-7987-4447-8ACC-1E2E6B910C80}" type="presParOf" srcId="{55716A0A-BB5F-4519-A0D5-90DBC9D5BC74}" destId="{8B0E6AF2-97B7-41B1-8CBC-55C634E3C93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CBF2B-52AF-4204-86C4-13EEB01BF9A4}">
      <dsp:nvSpPr>
        <dsp:cNvPr id="0" name=""/>
        <dsp:cNvSpPr/>
      </dsp:nvSpPr>
      <dsp:spPr>
        <a:xfrm>
          <a:off x="615" y="1861588"/>
          <a:ext cx="1795704" cy="10774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600" kern="1200" noProof="0" dirty="0"/>
            <a:t>Entrada</a:t>
          </a:r>
        </a:p>
      </dsp:txBody>
      <dsp:txXfrm>
        <a:off x="32172" y="1893145"/>
        <a:ext cx="1732590" cy="1014308"/>
      </dsp:txXfrm>
    </dsp:sp>
    <dsp:sp modelId="{193D08EF-D665-4451-9932-FD36289FEDB5}">
      <dsp:nvSpPr>
        <dsp:cNvPr id="0" name=""/>
        <dsp:cNvSpPr/>
      </dsp:nvSpPr>
      <dsp:spPr>
        <a:xfrm>
          <a:off x="1975890" y="2177632"/>
          <a:ext cx="380689" cy="44533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900" kern="1200" noProof="0"/>
        </a:p>
      </dsp:txBody>
      <dsp:txXfrm>
        <a:off x="1975890" y="2266699"/>
        <a:ext cx="266482" cy="267200"/>
      </dsp:txXfrm>
    </dsp:sp>
    <dsp:sp modelId="{DD125002-49F0-4189-A8B6-2088FC75BC76}">
      <dsp:nvSpPr>
        <dsp:cNvPr id="0" name=""/>
        <dsp:cNvSpPr/>
      </dsp:nvSpPr>
      <dsp:spPr>
        <a:xfrm>
          <a:off x="2514601" y="1447799"/>
          <a:ext cx="2514596" cy="19050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600" kern="1200" noProof="0" dirty="0"/>
            <a:t>CPU</a:t>
          </a:r>
        </a:p>
      </dsp:txBody>
      <dsp:txXfrm>
        <a:off x="2570397" y="1503595"/>
        <a:ext cx="2403004" cy="1793409"/>
      </dsp:txXfrm>
    </dsp:sp>
    <dsp:sp modelId="{54125474-0F9E-4803-B0C5-43C607391F03}">
      <dsp:nvSpPr>
        <dsp:cNvPr id="0" name=""/>
        <dsp:cNvSpPr/>
      </dsp:nvSpPr>
      <dsp:spPr>
        <a:xfrm>
          <a:off x="5208768" y="2177632"/>
          <a:ext cx="380689" cy="44533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900" kern="1200" noProof="0"/>
        </a:p>
      </dsp:txBody>
      <dsp:txXfrm>
        <a:off x="5208768" y="2266699"/>
        <a:ext cx="266482" cy="267200"/>
      </dsp:txXfrm>
    </dsp:sp>
    <dsp:sp modelId="{8B0E6AF2-97B7-41B1-8CBC-55C634E3C936}">
      <dsp:nvSpPr>
        <dsp:cNvPr id="0" name=""/>
        <dsp:cNvSpPr/>
      </dsp:nvSpPr>
      <dsp:spPr>
        <a:xfrm>
          <a:off x="5747480" y="1861588"/>
          <a:ext cx="1795704" cy="10774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600" kern="1200" noProof="0" dirty="0"/>
            <a:t>Salida</a:t>
          </a:r>
        </a:p>
      </dsp:txBody>
      <dsp:txXfrm>
        <a:off x="5779037" y="1893145"/>
        <a:ext cx="1732590" cy="1014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42595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None/>
            </a:pPr>
            <a:endParaRPr dirty="0"/>
          </a:p>
          <a:p>
            <a:pPr lvl="1">
              <a:buNone/>
            </a:pPr>
            <a:endParaRPr dirty="0"/>
          </a:p>
          <a:p>
            <a:pPr lvl="1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314" y="5273551"/>
            <a:ext cx="1440000" cy="1440000"/>
          </a:xfrm>
        </p:spPr>
      </p:pic>
      <p:pic>
        <p:nvPicPr>
          <p:cNvPr id="15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3038" y="5273551"/>
            <a:ext cx="1440000" cy="1440000"/>
          </a:xfr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FE9A4AA-F887-EDCE-1107-39C137D2176C}"/>
              </a:ext>
            </a:extLst>
          </p:cNvPr>
          <p:cNvSpPr>
            <a:spLocks noGrp="1"/>
          </p:cNvSpPr>
          <p:nvPr/>
        </p:nvSpPr>
        <p:spPr>
          <a:xfrm>
            <a:off x="0" y="1566145"/>
            <a:ext cx="12136172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500" b="1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ARCHIVOS</a:t>
            </a:r>
            <a:endParaRPr lang="es-ES" sz="11500" b="1" dirty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algn="ctr">
              <a:buNone/>
            </a:pPr>
            <a:r>
              <a:rPr lang="es-AR" sz="4400" b="1" dirty="0">
                <a:latin typeface="Consolas"/>
                <a:ea typeface="Consolas"/>
                <a:cs typeface="Consolas"/>
              </a:rPr>
              <a:t>Bajo Nivel en </a:t>
            </a:r>
            <a:r>
              <a:rPr sz="4400" b="1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C</a:t>
            </a:r>
            <a:endParaRPr sz="1100" b="1" dirty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88588A9-5E53-0C95-1AD5-AD88146523E3}"/>
              </a:ext>
            </a:extLst>
          </p:cNvPr>
          <p:cNvSpPr>
            <a:spLocks noGrp="1"/>
          </p:cNvSpPr>
          <p:nvPr/>
        </p:nvSpPr>
        <p:spPr>
          <a:xfrm>
            <a:off x="106805" y="6251886"/>
            <a:ext cx="6282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9393"/>
                </a:solidFill>
                <a:latin typeface="Consolas"/>
                <a:ea typeface="Consolas"/>
                <a:cs typeface="Consolas"/>
              </a:rPr>
              <a:t>Oscar Paniagua</a:t>
            </a:r>
            <a:r>
              <a:rPr sz="2400">
                <a:latin typeface="Consolas"/>
                <a:ea typeface="Consolas"/>
                <a:cs typeface="Consolas"/>
              </a:rPr>
              <a:t> </a:t>
            </a:r>
            <a:r>
              <a:rPr sz="2400">
                <a:solidFill>
                  <a:schemeClr val="tx1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@2026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A98A39F-BD1D-E6E6-105F-EF132F2EDA7E}"/>
              </a:ext>
            </a:extLst>
          </p:cNvPr>
          <p:cNvSpPr>
            <a:spLocks noGrp="1"/>
          </p:cNvSpPr>
          <p:nvPr/>
        </p:nvSpPr>
        <p:spPr>
          <a:xfrm>
            <a:off x="190985" y="144449"/>
            <a:ext cx="288000" cy="288000"/>
          </a:xfrm>
          <a:prstGeom prst="ellipse">
            <a:avLst/>
          </a:prstGeom>
          <a:solidFill>
            <a:srgbClr val="FF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1C57C80-8A49-8003-23DC-C982DD00B03D}"/>
              </a:ext>
            </a:extLst>
          </p:cNvPr>
          <p:cNvSpPr>
            <a:spLocks noGrp="1"/>
          </p:cNvSpPr>
          <p:nvPr/>
        </p:nvSpPr>
        <p:spPr>
          <a:xfrm>
            <a:off x="621785" y="144449"/>
            <a:ext cx="288000" cy="28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DA42A41-1783-A237-52E2-C4BDF7DE97CC}"/>
              </a:ext>
            </a:extLst>
          </p:cNvPr>
          <p:cNvSpPr>
            <a:spLocks noGrp="1"/>
          </p:cNvSpPr>
          <p:nvPr/>
        </p:nvSpPr>
        <p:spPr>
          <a:xfrm>
            <a:off x="1052585" y="144449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75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0" y="6705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Dispositivos</a:t>
            </a:r>
            <a:r>
              <a:rPr sz="4400" b="1" dirty="0">
                <a:latin typeface="Consolas"/>
                <a:ea typeface="Consolas"/>
                <a:cs typeface="Consolas"/>
              </a:rPr>
              <a:t> de E/S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6055FB-230F-612C-8B9F-F1D5D692B072}"/>
              </a:ext>
            </a:extLst>
          </p:cNvPr>
          <p:cNvSpPr>
            <a:spLocks noGrp="1"/>
          </p:cNvSpPr>
          <p:nvPr/>
        </p:nvSpPr>
        <p:spPr>
          <a:xfrm>
            <a:off x="31750" y="1670085"/>
            <a:ext cx="12160250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s-AR" sz="4000" b="1" noProof="0" dirty="0">
                <a:latin typeface="Consolas"/>
                <a:ea typeface="Consolas"/>
                <a:cs typeface="Consolas"/>
              </a:rPr>
              <a:t>Permiten que una computadora intercambie información con el exterior.</a:t>
            </a:r>
          </a:p>
          <a:p>
            <a:pPr marL="571500" indent="-571500">
              <a:buFont typeface="Arial"/>
              <a:buChar char="•"/>
            </a:pPr>
            <a:endParaRPr lang="es-AR" sz="4000" b="1" noProof="0" dirty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marL="1028700" lvl="1" indent="-571500">
              <a:buFont typeface="Arial"/>
              <a:buChar char="•"/>
            </a:pPr>
            <a:r>
              <a:rPr lang="es-AR" sz="40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teclado y mouse: entrada </a:t>
            </a:r>
          </a:p>
          <a:p>
            <a:pPr marL="1028700" lvl="1" indent="-571500">
              <a:buFont typeface="Arial"/>
              <a:buChar char="•"/>
            </a:pPr>
            <a:r>
              <a:rPr lang="es-AR" sz="40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pantalla e impresora: salida </a:t>
            </a:r>
          </a:p>
          <a:p>
            <a:pPr marL="1028700" lvl="1" indent="-571500">
              <a:buFont typeface="Arial"/>
              <a:buChar char="•"/>
            </a:pPr>
            <a:r>
              <a:rPr lang="es-AR" sz="40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discos y red: entrada/salida</a:t>
            </a:r>
            <a:endParaRPr sz="4000" b="1" dirty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606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5463"/>
            <a:ext cx="1216025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es-AR" sz="4400" b="1" noProof="0" dirty="0">
                <a:latin typeface="Consolas"/>
                <a:ea typeface="Consolas"/>
                <a:cs typeface="Consolas"/>
              </a:rPr>
              <a:t>Recursos de Unix</a:t>
            </a:r>
          </a:p>
          <a:p>
            <a:pPr algn="ctr">
              <a:buNone/>
            </a:pPr>
            <a:r>
              <a:rPr sz="4400" dirty="0">
                <a:solidFill>
                  <a:srgbClr val="FFC000"/>
                </a:solidFill>
                <a:latin typeface="Consolas"/>
                <a:ea typeface="Consolas"/>
                <a:cs typeface="Consolas"/>
              </a:rPr>
              <a:t>“everything is a file”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6055FB-230F-612C-8B9F-F1D5D692B072}"/>
              </a:ext>
            </a:extLst>
          </p:cNvPr>
          <p:cNvSpPr>
            <a:spLocks noGrp="1"/>
          </p:cNvSpPr>
          <p:nvPr/>
        </p:nvSpPr>
        <p:spPr>
          <a:xfrm>
            <a:off x="15875" y="1997632"/>
            <a:ext cx="12160250" cy="4401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s-AR" sz="4000" b="1" noProof="0" dirty="0">
                <a:latin typeface="Consolas"/>
                <a:ea typeface="Consolas"/>
                <a:cs typeface="Consolas"/>
              </a:rPr>
              <a:t>En Unix, muchos recursos se acceden mediante una interfaz uniforme, similar a la de un archivo.</a:t>
            </a:r>
          </a:p>
          <a:p>
            <a:pPr marL="571500" indent="-571500">
              <a:buFont typeface="Arial"/>
              <a:buChar char="•"/>
            </a:pPr>
            <a:endParaRPr lang="es-AR" sz="4000" b="1" noProof="0" dirty="0">
              <a:latin typeface="Consolas"/>
              <a:ea typeface="Consolas"/>
              <a:cs typeface="Consolas"/>
            </a:endParaRPr>
          </a:p>
          <a:p>
            <a:pPr marL="571500" indent="-571500">
              <a:buFont typeface="Arial"/>
              <a:buChar char="•"/>
            </a:pPr>
            <a:r>
              <a:rPr lang="es-AR" sz="40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Los dispositivos suelen aparecer en /</a:t>
            </a:r>
            <a:r>
              <a:rPr lang="es-AR" sz="4000" b="1" noProof="0" dirty="0" err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dev</a:t>
            </a:r>
            <a:r>
              <a:rPr lang="es-AR" sz="40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; también existen directorios, tuberías y sockets.</a:t>
            </a:r>
          </a:p>
        </p:txBody>
      </p:sp>
    </p:spTree>
    <p:extLst>
      <p:ext uri="{BB962C8B-B14F-4D97-AF65-F5344CB8AC3E}">
        <p14:creationId xmlns:p14="http://schemas.microsoft.com/office/powerpoint/2010/main" val="180266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5463"/>
            <a:ext cx="1216025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Recursos</a:t>
            </a:r>
            <a:r>
              <a:rPr sz="4400" b="1" dirty="0">
                <a:latin typeface="Consolas"/>
                <a:ea typeface="Consolas"/>
                <a:cs typeface="Consolas"/>
              </a:rPr>
              <a:t> de Unix</a:t>
            </a:r>
          </a:p>
          <a:p>
            <a:pPr algn="ctr">
              <a:buNone/>
            </a:pPr>
            <a:r>
              <a:rPr sz="4400" dirty="0">
                <a:solidFill>
                  <a:srgbClr val="FFC000"/>
                </a:solidFill>
                <a:latin typeface="Consolas"/>
                <a:ea typeface="Consolas"/>
                <a:cs typeface="Consolas"/>
              </a:rPr>
              <a:t>“everything is a file”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6055FB-230F-612C-8B9F-F1D5D692B072}"/>
              </a:ext>
            </a:extLst>
          </p:cNvPr>
          <p:cNvSpPr>
            <a:spLocks noGrp="1"/>
          </p:cNvSpPr>
          <p:nvPr/>
        </p:nvSpPr>
        <p:spPr>
          <a:xfrm>
            <a:off x="15875" y="1997632"/>
            <a:ext cx="12160250" cy="45858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s-AR" sz="4000" b="1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Interfaz de entrada/salida en Linux</a:t>
            </a:r>
          </a:p>
          <a:p>
            <a:pPr marL="1028700" lvl="1" indent="-571500">
              <a:buFont typeface="Arial"/>
              <a:buChar char="•"/>
            </a:pPr>
            <a:endParaRPr lang="es-AR" sz="3600" b="1" noProof="0" dirty="0">
              <a:latin typeface="Consolas"/>
              <a:ea typeface="Consolas"/>
              <a:cs typeface="Consolas"/>
            </a:endParaRPr>
          </a:p>
          <a:p>
            <a:pPr marL="1028700" lvl="1" indent="-571500"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Archivos, terminales, dispositivos y canales de comunicación se manejan mediante operaciones similares.</a:t>
            </a:r>
          </a:p>
          <a:p>
            <a:pPr marL="1028700" lvl="1" indent="-571500">
              <a:buFont typeface="Arial"/>
              <a:buChar char="•"/>
            </a:pPr>
            <a:endParaRPr lang="es-AR" sz="3600" b="1" noProof="0" dirty="0">
              <a:latin typeface="Consolas"/>
              <a:ea typeface="Consolas"/>
              <a:cs typeface="Consolas"/>
            </a:endParaRPr>
          </a:p>
          <a:p>
            <a:pPr marL="1028700" lvl="1" indent="-571500"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Funciones como </a:t>
            </a:r>
            <a:r>
              <a:rPr lang="es-AR" sz="36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lang="es-AR" sz="3600" b="1" noProof="0" dirty="0">
                <a:latin typeface="Consolas"/>
                <a:ea typeface="Consolas"/>
                <a:cs typeface="Consolas"/>
              </a:rPr>
              <a:t>, </a:t>
            </a:r>
            <a:r>
              <a:rPr lang="es-AR" sz="3600" b="1" noProof="0" dirty="0" err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read</a:t>
            </a:r>
            <a:r>
              <a:rPr lang="es-AR" sz="3600" b="1" noProof="0" dirty="0">
                <a:latin typeface="Consolas"/>
                <a:ea typeface="Consolas"/>
                <a:cs typeface="Consolas"/>
              </a:rPr>
              <a:t>, </a:t>
            </a:r>
            <a:r>
              <a:rPr lang="es-AR" sz="3600" b="1" noProof="0" dirty="0" err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lang="es-AR" sz="3600" b="1" noProof="0" dirty="0">
                <a:latin typeface="Consolas"/>
                <a:ea typeface="Consolas"/>
                <a:cs typeface="Consolas"/>
              </a:rPr>
              <a:t> y </a:t>
            </a:r>
            <a:r>
              <a:rPr lang="es-AR" sz="3600" b="1" noProof="0" dirty="0" err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lang="es-AR" sz="3600" b="1" noProof="0" dirty="0">
                <a:latin typeface="Consolas"/>
                <a:ea typeface="Consolas"/>
                <a:cs typeface="Consolas"/>
              </a:rPr>
              <a:t> forman parte de esa interfaz de bajo nivel.</a:t>
            </a:r>
          </a:p>
        </p:txBody>
      </p:sp>
    </p:spTree>
    <p:extLst>
      <p:ext uri="{BB962C8B-B14F-4D97-AF65-F5344CB8AC3E}">
        <p14:creationId xmlns:p14="http://schemas.microsoft.com/office/powerpoint/2010/main" val="272862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3 Diagrama">
            <a:extLst>
              <a:ext uri="{FF2B5EF4-FFF2-40B4-BE49-F238E27FC236}">
                <a16:creationId xmlns:a16="http://schemas.microsoft.com/office/drawing/2014/main" id="{B7686544-DC39-BE7A-ACFB-D88C6CA49F1C}"/>
              </a:ext>
            </a:extLst>
          </p:cNvPr>
          <p:cNvGraphicFramePr/>
          <p:nvPr/>
        </p:nvGraphicFramePr>
        <p:xfrm>
          <a:off x="2482528" y="1028700"/>
          <a:ext cx="75438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6 CuadroTexto">
            <a:extLst>
              <a:ext uri="{FF2B5EF4-FFF2-40B4-BE49-F238E27FC236}">
                <a16:creationId xmlns:a16="http://schemas.microsoft.com/office/drawing/2014/main" id="{55DFDA91-31A1-A0AF-6822-41A63CAF9C54}"/>
              </a:ext>
            </a:extLst>
          </p:cNvPr>
          <p:cNvSpPr txBox="1"/>
          <p:nvPr/>
        </p:nvSpPr>
        <p:spPr>
          <a:xfrm>
            <a:off x="2510132" y="4373322"/>
            <a:ext cx="17249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dirty="0"/>
              <a:t>Teclado</a:t>
            </a:r>
          </a:p>
          <a:p>
            <a:pPr algn="ctr"/>
            <a:r>
              <a:rPr lang="es-AR" sz="1400" dirty="0"/>
              <a:t>Disco Rígido</a:t>
            </a:r>
          </a:p>
          <a:p>
            <a:pPr algn="ctr"/>
            <a:r>
              <a:rPr lang="es-AR" sz="1400" dirty="0"/>
              <a:t>Otros…</a:t>
            </a:r>
          </a:p>
        </p:txBody>
      </p:sp>
      <p:sp>
        <p:nvSpPr>
          <p:cNvPr id="4" name="7 CuadroTexto">
            <a:extLst>
              <a:ext uri="{FF2B5EF4-FFF2-40B4-BE49-F238E27FC236}">
                <a16:creationId xmlns:a16="http://schemas.microsoft.com/office/drawing/2014/main" id="{C695E82E-1D56-A915-F45A-964354BDD247}"/>
              </a:ext>
            </a:extLst>
          </p:cNvPr>
          <p:cNvSpPr txBox="1"/>
          <p:nvPr/>
        </p:nvSpPr>
        <p:spPr>
          <a:xfrm>
            <a:off x="8333162" y="4373322"/>
            <a:ext cx="16169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dirty="0"/>
              <a:t>Monitor</a:t>
            </a:r>
          </a:p>
          <a:p>
            <a:pPr algn="ctr"/>
            <a:r>
              <a:rPr lang="es-AR" sz="1400" dirty="0"/>
              <a:t>Disco Rígido</a:t>
            </a:r>
          </a:p>
          <a:p>
            <a:pPr algn="ctr"/>
            <a:r>
              <a:rPr lang="es-AR" sz="1400" dirty="0"/>
              <a:t>Otros…</a:t>
            </a:r>
          </a:p>
        </p:txBody>
      </p:sp>
      <p:sp>
        <p:nvSpPr>
          <p:cNvPr id="5" name="9 Elipse">
            <a:extLst>
              <a:ext uri="{FF2B5EF4-FFF2-40B4-BE49-F238E27FC236}">
                <a16:creationId xmlns:a16="http://schemas.microsoft.com/office/drawing/2014/main" id="{136FFF1C-E6D3-A483-9038-8FB323ABE82B}"/>
              </a:ext>
            </a:extLst>
          </p:cNvPr>
          <p:cNvSpPr/>
          <p:nvPr/>
        </p:nvSpPr>
        <p:spPr>
          <a:xfrm>
            <a:off x="4265608" y="3086100"/>
            <a:ext cx="731520" cy="73152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10 Elipse">
            <a:extLst>
              <a:ext uri="{FF2B5EF4-FFF2-40B4-BE49-F238E27FC236}">
                <a16:creationId xmlns:a16="http://schemas.microsoft.com/office/drawing/2014/main" id="{951901C8-BB4B-44C6-E9AB-D7770B660463}"/>
              </a:ext>
            </a:extLst>
          </p:cNvPr>
          <p:cNvSpPr/>
          <p:nvPr/>
        </p:nvSpPr>
        <p:spPr>
          <a:xfrm>
            <a:off x="7511728" y="3086100"/>
            <a:ext cx="731520" cy="73152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" name="11 Conector angular">
            <a:extLst>
              <a:ext uri="{FF2B5EF4-FFF2-40B4-BE49-F238E27FC236}">
                <a16:creationId xmlns:a16="http://schemas.microsoft.com/office/drawing/2014/main" id="{FD6193F2-FC4F-8DE5-8C91-3CCD75E37A1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388352" y="3817621"/>
            <a:ext cx="487738" cy="1878720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12 CuadroTexto">
            <a:extLst>
              <a:ext uri="{FF2B5EF4-FFF2-40B4-BE49-F238E27FC236}">
                <a16:creationId xmlns:a16="http://schemas.microsoft.com/office/drawing/2014/main" id="{59E4B54A-CFC1-7061-8F89-FBBCF878DC13}"/>
              </a:ext>
            </a:extLst>
          </p:cNvPr>
          <p:cNvSpPr txBox="1"/>
          <p:nvPr/>
        </p:nvSpPr>
        <p:spPr>
          <a:xfrm>
            <a:off x="5454328" y="5465508"/>
            <a:ext cx="193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dirty="0"/>
              <a:t>interfaz(file)</a:t>
            </a:r>
          </a:p>
        </p:txBody>
      </p:sp>
      <p:cxnSp>
        <p:nvCxnSpPr>
          <p:cNvPr id="9" name="13 Conector angular">
            <a:extLst>
              <a:ext uri="{FF2B5EF4-FFF2-40B4-BE49-F238E27FC236}">
                <a16:creationId xmlns:a16="http://schemas.microsoft.com/office/drawing/2014/main" id="{C4594696-1E3E-5DFE-BD80-53B153B899F9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4631368" y="3817631"/>
            <a:ext cx="822960" cy="1878711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B8336FD-83D1-B27F-E468-369732E094A8}"/>
              </a:ext>
            </a:extLst>
          </p:cNvPr>
          <p:cNvSpPr txBox="1"/>
          <p:nvPr/>
        </p:nvSpPr>
        <p:spPr>
          <a:xfrm>
            <a:off x="31750" y="5463"/>
            <a:ext cx="1216025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4400" b="1" dirty="0">
                <a:latin typeface="Consolas" panose="020B0609020204030204" pitchFamily="49" charset="0"/>
              </a:rPr>
              <a:t>Recursos de UNIX</a:t>
            </a:r>
          </a:p>
          <a:p>
            <a:pPr algn="ctr"/>
            <a:r>
              <a:rPr lang="es-ES" sz="4400" dirty="0">
                <a:solidFill>
                  <a:srgbClr val="FFC000"/>
                </a:solidFill>
                <a:latin typeface="Consolas" panose="020B0609020204030204" pitchFamily="49" charset="0"/>
              </a:rPr>
              <a:t>“</a:t>
            </a:r>
            <a:r>
              <a:rPr lang="es-ES" sz="4400" dirty="0" err="1">
                <a:solidFill>
                  <a:srgbClr val="FFC000"/>
                </a:solidFill>
                <a:latin typeface="Consolas" panose="020B0609020204030204" pitchFamily="49" charset="0"/>
              </a:rPr>
              <a:t>everything</a:t>
            </a:r>
            <a:r>
              <a:rPr lang="es-ES" sz="44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s-ES" sz="4400" dirty="0" err="1">
                <a:solidFill>
                  <a:srgbClr val="FFC000"/>
                </a:solidFill>
                <a:latin typeface="Consolas" panose="020B0609020204030204" pitchFamily="49" charset="0"/>
              </a:rPr>
              <a:t>is</a:t>
            </a:r>
            <a:r>
              <a:rPr lang="es-ES" sz="4400" dirty="0">
                <a:solidFill>
                  <a:srgbClr val="FFC000"/>
                </a:solidFill>
                <a:latin typeface="Consolas" panose="020B0609020204030204" pitchFamily="49" charset="0"/>
              </a:rPr>
              <a:t> a file”</a:t>
            </a:r>
          </a:p>
        </p:txBody>
      </p:sp>
    </p:spTree>
    <p:extLst>
      <p:ext uri="{BB962C8B-B14F-4D97-AF65-F5344CB8AC3E}">
        <p14:creationId xmlns:p14="http://schemas.microsoft.com/office/powerpoint/2010/main" val="127344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103023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Tipos</a:t>
            </a:r>
            <a:r>
              <a:rPr sz="4400" b="1" dirty="0">
                <a:latin typeface="Consolas"/>
                <a:ea typeface="Consolas"/>
                <a:cs typeface="Consolas"/>
              </a:rPr>
              <a:t> de </a:t>
            </a:r>
            <a:r>
              <a:rPr sz="4400" b="1" dirty="0" err="1">
                <a:latin typeface="Consolas"/>
                <a:ea typeface="Consolas"/>
                <a:cs typeface="Consolas"/>
              </a:rPr>
              <a:t>recursos</a:t>
            </a:r>
            <a:r>
              <a:rPr sz="4400" b="1" dirty="0">
                <a:latin typeface="Consolas"/>
                <a:ea typeface="Consolas"/>
                <a:cs typeface="Consolas"/>
              </a:rPr>
              <a:t> </a:t>
            </a:r>
            <a:r>
              <a:rPr sz="4400" b="1" dirty="0" err="1">
                <a:latin typeface="Consolas"/>
                <a:ea typeface="Consolas"/>
                <a:cs typeface="Consolas"/>
              </a:rPr>
              <a:t>en</a:t>
            </a:r>
            <a:r>
              <a:rPr sz="4400" b="1" dirty="0">
                <a:latin typeface="Consolas"/>
                <a:ea typeface="Consolas"/>
                <a:cs typeface="Consolas"/>
              </a:rPr>
              <a:t> Linux</a:t>
            </a:r>
            <a:endParaRPr sz="4400" dirty="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6055FB-230F-612C-8B9F-F1D5D692B072}"/>
              </a:ext>
            </a:extLst>
          </p:cNvPr>
          <p:cNvSpPr>
            <a:spLocks noGrp="1"/>
          </p:cNvSpPr>
          <p:nvPr/>
        </p:nvSpPr>
        <p:spPr>
          <a:xfrm>
            <a:off x="31750" y="1451722"/>
            <a:ext cx="12160250" cy="4524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La primera letra de </a:t>
            </a:r>
            <a:r>
              <a:rPr lang="es-AR" sz="3600" b="1" noProof="0" dirty="0" err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ls</a:t>
            </a:r>
            <a:r>
              <a:rPr lang="es-AR" sz="36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 -l</a:t>
            </a:r>
            <a:r>
              <a:rPr lang="es-AR" sz="3600" b="1" noProof="0" dirty="0">
                <a:latin typeface="Consolas"/>
                <a:ea typeface="Consolas"/>
                <a:cs typeface="Consolas"/>
              </a:rPr>
              <a:t> indica el tipo:</a:t>
            </a:r>
          </a:p>
          <a:p>
            <a:pPr marL="571500" indent="-571500"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Archivo regular (-)</a:t>
            </a:r>
          </a:p>
          <a:p>
            <a:pPr marL="571500" indent="-571500"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Directorio (d)</a:t>
            </a:r>
          </a:p>
          <a:p>
            <a:pPr marL="1028700" lvl="7" indent="-571500">
              <a:buSzPts val="2400"/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Dispositivo de bloques (b)</a:t>
            </a:r>
          </a:p>
          <a:p>
            <a:pPr marL="1028700" lvl="1" indent="-571500">
              <a:buSzPts val="2400"/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Dispositivo de caracteres (c)</a:t>
            </a:r>
          </a:p>
          <a:p>
            <a:pPr marL="1028700" lvl="1" indent="-571500">
              <a:buSzPts val="2400"/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Tubería (p)</a:t>
            </a:r>
          </a:p>
          <a:p>
            <a:pPr marL="1028700" lvl="1" indent="-571500">
              <a:buSzPts val="2400"/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Enlace simbólico (l)</a:t>
            </a:r>
          </a:p>
          <a:p>
            <a:pPr marL="1028700" lvl="1" indent="-571500">
              <a:buSzPts val="2400"/>
              <a:buFont typeface="Arial"/>
              <a:buChar char="•"/>
            </a:pPr>
            <a:r>
              <a:rPr lang="es-AR" sz="3600" b="1" noProof="0" dirty="0">
                <a:latin typeface="Consolas"/>
                <a:ea typeface="Consolas"/>
                <a:cs typeface="Consolas"/>
              </a:rPr>
              <a:t>Socket (s)</a:t>
            </a:r>
            <a:endParaRPr sz="3600" b="1" dirty="0"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3456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0" y="6705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Llamadas</a:t>
            </a:r>
            <a:r>
              <a:rPr sz="4400" b="1" dirty="0">
                <a:latin typeface="Consolas"/>
                <a:ea typeface="Consolas"/>
                <a:cs typeface="Consolas"/>
              </a:rPr>
              <a:t> al </a:t>
            </a:r>
            <a:r>
              <a:rPr sz="4400" b="1" dirty="0" err="1">
                <a:latin typeface="Consolas"/>
                <a:ea typeface="Consolas"/>
                <a:cs typeface="Consolas"/>
              </a:rPr>
              <a:t>sistema</a:t>
            </a:r>
            <a:endParaRPr sz="4400" b="1" dirty="0">
              <a:latin typeface="Consolas"/>
              <a:ea typeface="Consolas"/>
              <a:cs typeface="Consola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20AE1A-ABAF-B7F4-37D5-926F706143DA}"/>
              </a:ext>
            </a:extLst>
          </p:cNvPr>
          <p:cNvSpPr>
            <a:spLocks noGrp="1"/>
          </p:cNvSpPr>
          <p:nvPr/>
        </p:nvSpPr>
        <p:spPr>
          <a:xfrm>
            <a:off x="4441296" y="3069758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sz="2000"/>
              <a:t>Un programa solicita servicios al sistema operativo mediante llamadas al sistema.</a:t>
            </a:r>
          </a:p>
          <a:p>
            <a:pPr marL="285750" indent="-285750">
              <a:buFont typeface="Arial"/>
              <a:buChar char="•"/>
            </a:pPr>
            <a:r>
              <a:rPr sz="2000"/>
              <a:t>La biblioteca de C (libc) actúa como puente entre el programa y el kernel.</a:t>
            </a:r>
          </a:p>
          <a:p>
            <a:pPr marL="285750" indent="-285750">
              <a:buFont typeface="Arial"/>
              <a:buChar char="•"/>
            </a:pPr>
            <a:endParaRPr sz="2000"/>
          </a:p>
          <a:p>
            <a:pPr marL="285750" indent="-285750">
              <a:buFont typeface="Arial"/>
              <a:buChar char="•"/>
            </a:pPr>
            <a:r>
              <a:rPr sz="2000"/>
              <a:t>El kernel coordina servicios y controladores para acceder al hardware.</a:t>
            </a:r>
          </a:p>
          <a:p>
            <a:pPr marL="285750" indent="-285750">
              <a:buFont typeface="Arial"/>
              <a:buChar char="•"/>
            </a:pPr>
            <a:endParaRPr sz="2000"/>
          </a:p>
          <a:p>
            <a:endParaRPr sz="2000"/>
          </a:p>
          <a:p>
            <a:endParaRPr sz="200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1CA924C-661A-3DA2-DF5E-166A818C331A}"/>
              </a:ext>
            </a:extLst>
          </p:cNvPr>
          <p:cNvSpPr>
            <a:spLocks noGrp="1"/>
          </p:cNvSpPr>
          <p:nvPr/>
        </p:nvSpPr>
        <p:spPr>
          <a:xfrm>
            <a:off x="398583" y="1054813"/>
            <a:ext cx="3411415" cy="162898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Espacio de usuario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2EDF03A-D728-7A97-5A4F-00D8C65574E1}"/>
              </a:ext>
            </a:extLst>
          </p:cNvPr>
          <p:cNvSpPr>
            <a:spLocks noGrp="1"/>
          </p:cNvSpPr>
          <p:nvPr/>
        </p:nvSpPr>
        <p:spPr>
          <a:xfrm>
            <a:off x="527538" y="1605798"/>
            <a:ext cx="3083169" cy="4454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Consolas"/>
                <a:ea typeface="Consolas"/>
                <a:cs typeface="Consolas"/>
              </a:rPr>
              <a:t>Programa de Usuario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835D9C0-6F2B-345C-4AD4-6A02BCD488D6}"/>
              </a:ext>
            </a:extLst>
          </p:cNvPr>
          <p:cNvSpPr>
            <a:spLocks noGrp="1"/>
          </p:cNvSpPr>
          <p:nvPr/>
        </p:nvSpPr>
        <p:spPr>
          <a:xfrm>
            <a:off x="515815" y="2109890"/>
            <a:ext cx="3083169" cy="4454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Consolas"/>
                <a:ea typeface="Consolas"/>
                <a:cs typeface="Consolas"/>
              </a:rPr>
              <a:t>Biblioteca C (libc)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D206120-659F-DE6C-612E-2138AE4819A2}"/>
              </a:ext>
            </a:extLst>
          </p:cNvPr>
          <p:cNvSpPr>
            <a:spLocks noGrp="1"/>
          </p:cNvSpPr>
          <p:nvPr/>
        </p:nvSpPr>
        <p:spPr>
          <a:xfrm>
            <a:off x="398585" y="2846477"/>
            <a:ext cx="3411414" cy="2298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Espacio del kernel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5A5500E-546E-5C27-BE42-BA66E948557F}"/>
              </a:ext>
            </a:extLst>
          </p:cNvPr>
          <p:cNvSpPr>
            <a:spLocks noGrp="1"/>
          </p:cNvSpPr>
          <p:nvPr/>
        </p:nvSpPr>
        <p:spPr>
          <a:xfrm>
            <a:off x="527539" y="3397462"/>
            <a:ext cx="3083169" cy="445477"/>
          </a:xfrm>
          <a:prstGeom prst="rect">
            <a:avLst/>
          </a:prstGeom>
          <a:solidFill>
            <a:srgbClr val="FF6969"/>
          </a:solidFill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Llamada al sistema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39419F1-F390-FE5C-931E-C6AD40401BD1}"/>
              </a:ext>
            </a:extLst>
          </p:cNvPr>
          <p:cNvSpPr>
            <a:spLocks noGrp="1"/>
          </p:cNvSpPr>
          <p:nvPr/>
        </p:nvSpPr>
        <p:spPr>
          <a:xfrm>
            <a:off x="515816" y="3901554"/>
            <a:ext cx="3083169" cy="4454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Consolas"/>
                <a:ea typeface="Consolas"/>
                <a:cs typeface="Consolas"/>
              </a:rPr>
              <a:t>Servicio del kernel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940071F-42A7-6B08-4DC8-9B08480F26DF}"/>
              </a:ext>
            </a:extLst>
          </p:cNvPr>
          <p:cNvSpPr>
            <a:spLocks noGrp="1"/>
          </p:cNvSpPr>
          <p:nvPr/>
        </p:nvSpPr>
        <p:spPr>
          <a:xfrm>
            <a:off x="515815" y="4393924"/>
            <a:ext cx="3083169" cy="4454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 err="1">
                <a:latin typeface="Consolas"/>
                <a:ea typeface="Consolas"/>
                <a:cs typeface="Consolas"/>
              </a:rPr>
              <a:t>Controlador</a:t>
            </a:r>
            <a:r>
              <a:rPr lang="es-ES" dirty="0">
                <a:latin typeface="Consolas"/>
                <a:ea typeface="Consolas"/>
                <a:cs typeface="Consolas"/>
              </a:rPr>
              <a:t> </a:t>
            </a:r>
            <a:r>
              <a:rPr lang="es-ES" sz="1200" dirty="0">
                <a:latin typeface="Consolas"/>
                <a:ea typeface="Consolas"/>
                <a:cs typeface="Consolas"/>
              </a:rPr>
              <a:t>(</a:t>
            </a:r>
            <a:r>
              <a:rPr lang="es-ES" sz="1200" dirty="0" err="1">
                <a:latin typeface="Consolas"/>
                <a:ea typeface="Consolas"/>
                <a:cs typeface="Consolas"/>
              </a:rPr>
              <a:t>device</a:t>
            </a:r>
            <a:r>
              <a:rPr lang="es-ES" sz="1200" dirty="0">
                <a:latin typeface="Consolas"/>
                <a:ea typeface="Consolas"/>
                <a:cs typeface="Consolas"/>
              </a:rPr>
              <a:t> driver)</a:t>
            </a:r>
            <a:endParaRPr sz="1200" dirty="0">
              <a:latin typeface="Consolas"/>
              <a:ea typeface="Consolas"/>
              <a:cs typeface="Consolas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7ED0E09-F1BC-9F72-9DF8-83285C0F0DC4}"/>
              </a:ext>
            </a:extLst>
          </p:cNvPr>
          <p:cNvSpPr>
            <a:spLocks noGrp="1"/>
          </p:cNvSpPr>
          <p:nvPr/>
        </p:nvSpPr>
        <p:spPr>
          <a:xfrm>
            <a:off x="398584" y="5320573"/>
            <a:ext cx="3411414" cy="12712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r>
              <a:rPr sz="1600" b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Hardware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B66AB65-782A-8C9C-60A3-51ECBB2D293C}"/>
              </a:ext>
            </a:extLst>
          </p:cNvPr>
          <p:cNvSpPr>
            <a:spLocks noGrp="1"/>
          </p:cNvSpPr>
          <p:nvPr/>
        </p:nvSpPr>
        <p:spPr>
          <a:xfrm>
            <a:off x="527538" y="5871558"/>
            <a:ext cx="3083169" cy="4454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sz="1600">
                <a:latin typeface="Consolas"/>
                <a:ea typeface="Consolas"/>
                <a:cs typeface="Consolas"/>
              </a:rPr>
              <a:t>CPU · memoria · dispositivos</a:t>
            </a:r>
          </a:p>
        </p:txBody>
      </p:sp>
    </p:spTree>
    <p:extLst>
      <p:ext uri="{BB962C8B-B14F-4D97-AF65-F5344CB8AC3E}">
        <p14:creationId xmlns:p14="http://schemas.microsoft.com/office/powerpoint/2010/main" val="862467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23977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dirty="0" err="1">
                <a:latin typeface="Consolas"/>
                <a:ea typeface="Consolas"/>
                <a:cs typeface="Consolas"/>
              </a:rPr>
              <a:t>Llamadas</a:t>
            </a:r>
            <a:r>
              <a:rPr sz="4400" dirty="0">
                <a:latin typeface="Consolas"/>
                <a:ea typeface="Consolas"/>
                <a:cs typeface="Consolas"/>
              </a:rPr>
              <a:t> al </a:t>
            </a:r>
            <a:r>
              <a:rPr sz="4400" dirty="0" err="1">
                <a:latin typeface="Consolas"/>
                <a:ea typeface="Consolas"/>
                <a:cs typeface="Consolas"/>
              </a:rPr>
              <a:t>sistema</a:t>
            </a:r>
            <a:endParaRPr sz="4400" dirty="0"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6055FB-230F-612C-8B9F-F1D5D692B072}"/>
              </a:ext>
            </a:extLst>
          </p:cNvPr>
          <p:cNvSpPr>
            <a:spLocks noGrp="1"/>
          </p:cNvSpPr>
          <p:nvPr/>
        </p:nvSpPr>
        <p:spPr>
          <a:xfrm>
            <a:off x="15875" y="1997632"/>
            <a:ext cx="12160250" cy="317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sz="4000" b="1" dirty="0">
                <a:latin typeface="Consolas"/>
                <a:ea typeface="Consolas"/>
                <a:cs typeface="Consolas"/>
              </a:rPr>
              <a:t>POSIX </a:t>
            </a:r>
            <a:r>
              <a:rPr sz="4000" b="1" dirty="0" err="1">
                <a:latin typeface="Consolas"/>
                <a:ea typeface="Consolas"/>
                <a:cs typeface="Consolas"/>
              </a:rPr>
              <a:t>ofrece</a:t>
            </a:r>
            <a:r>
              <a:rPr sz="4000" b="1" dirty="0">
                <a:latin typeface="Consolas"/>
                <a:ea typeface="Consolas"/>
                <a:cs typeface="Consolas"/>
              </a:rPr>
              <a:t> </a:t>
            </a:r>
            <a:r>
              <a:rPr sz="4000" b="1" dirty="0" err="1">
                <a:latin typeface="Consolas"/>
                <a:ea typeface="Consolas"/>
                <a:cs typeface="Consolas"/>
              </a:rPr>
              <a:t>una</a:t>
            </a:r>
            <a:r>
              <a:rPr sz="4000" b="1" dirty="0">
                <a:latin typeface="Consolas"/>
                <a:ea typeface="Consolas"/>
                <a:cs typeface="Consolas"/>
              </a:rPr>
              <a:t> </a:t>
            </a:r>
            <a:r>
              <a:rPr sz="4000" b="1" dirty="0" err="1">
                <a:latin typeface="Consolas"/>
                <a:ea typeface="Consolas"/>
                <a:cs typeface="Consolas"/>
              </a:rPr>
              <a:t>interfaz</a:t>
            </a:r>
            <a:r>
              <a:rPr sz="4000" b="1" dirty="0">
                <a:latin typeface="Consolas"/>
                <a:ea typeface="Consolas"/>
                <a:cs typeface="Consolas"/>
              </a:rPr>
              <a:t> de bajo </a:t>
            </a:r>
            <a:r>
              <a:rPr sz="4000" b="1" dirty="0" err="1">
                <a:latin typeface="Consolas"/>
                <a:ea typeface="Consolas"/>
                <a:cs typeface="Consolas"/>
              </a:rPr>
              <a:t>nivel</a:t>
            </a:r>
            <a:r>
              <a:rPr sz="4000" b="1" dirty="0">
                <a:latin typeface="Consolas"/>
                <a:ea typeface="Consolas"/>
                <a:cs typeface="Consolas"/>
              </a:rPr>
              <a:t> para </a:t>
            </a:r>
            <a:r>
              <a:rPr sz="4000" b="1" dirty="0" err="1">
                <a:latin typeface="Consolas"/>
                <a:ea typeface="Consolas"/>
                <a:cs typeface="Consolas"/>
              </a:rPr>
              <a:t>trabajar</a:t>
            </a:r>
            <a:r>
              <a:rPr sz="4000" b="1" dirty="0">
                <a:latin typeface="Consolas"/>
                <a:ea typeface="Consolas"/>
                <a:cs typeface="Consolas"/>
              </a:rPr>
              <a:t> con </a:t>
            </a:r>
            <a:r>
              <a:rPr sz="4000" b="1" dirty="0" err="1">
                <a:latin typeface="Consolas"/>
                <a:ea typeface="Consolas"/>
                <a:cs typeface="Consolas"/>
              </a:rPr>
              <a:t>archivos</a:t>
            </a:r>
            <a:r>
              <a:rPr sz="4000" b="1" dirty="0">
                <a:latin typeface="Consolas"/>
                <a:ea typeface="Consolas"/>
                <a:cs typeface="Consolas"/>
              </a:rPr>
              <a:t> y </a:t>
            </a:r>
            <a:r>
              <a:rPr sz="4000" b="1" dirty="0" err="1">
                <a:latin typeface="Consolas"/>
                <a:ea typeface="Consolas"/>
                <a:cs typeface="Consolas"/>
              </a:rPr>
              <a:t>otros</a:t>
            </a:r>
            <a:r>
              <a:rPr sz="4000" b="1" dirty="0">
                <a:latin typeface="Consolas"/>
                <a:ea typeface="Consolas"/>
                <a:cs typeface="Consolas"/>
              </a:rPr>
              <a:t> </a:t>
            </a:r>
            <a:r>
              <a:rPr sz="4000" b="1" dirty="0" err="1">
                <a:latin typeface="Consolas"/>
                <a:ea typeface="Consolas"/>
                <a:cs typeface="Consolas"/>
              </a:rPr>
              <a:t>recursos</a:t>
            </a:r>
            <a:r>
              <a:rPr sz="4000" b="1" dirty="0">
                <a:latin typeface="Consolas"/>
                <a:ea typeface="Consolas"/>
                <a:cs typeface="Consolas"/>
              </a:rPr>
              <a:t> del </a:t>
            </a:r>
            <a:r>
              <a:rPr sz="4000" b="1" dirty="0" err="1">
                <a:latin typeface="Consolas"/>
                <a:ea typeface="Consolas"/>
                <a:cs typeface="Consolas"/>
              </a:rPr>
              <a:t>sistema</a:t>
            </a:r>
            <a:r>
              <a:rPr sz="4000" b="1" dirty="0">
                <a:latin typeface="Consolas"/>
                <a:ea typeface="Consolas"/>
                <a:cs typeface="Consolas"/>
              </a:rPr>
              <a:t>.</a:t>
            </a:r>
          </a:p>
          <a:p>
            <a:pPr marL="1028700" lvl="1" indent="-571500">
              <a:buFont typeface="Arial"/>
              <a:buChar char="•"/>
            </a:pPr>
            <a:endParaRPr lang="es-ES" sz="4000" b="1" dirty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marL="1485900" lvl="2" indent="-571500">
              <a:buFont typeface="Arial"/>
              <a:buChar char="•"/>
            </a:pPr>
            <a:r>
              <a:rPr sz="4000" b="1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open, close, read, write, </a:t>
            </a:r>
            <a:r>
              <a:rPr sz="4000" b="1" dirty="0" err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lseek</a:t>
            </a:r>
            <a:r>
              <a:rPr sz="4000" b="1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, stat</a:t>
            </a:r>
          </a:p>
        </p:txBody>
      </p:sp>
    </p:spTree>
    <p:extLst>
      <p:ext uri="{BB962C8B-B14F-4D97-AF65-F5344CB8AC3E}">
        <p14:creationId xmlns:p14="http://schemas.microsoft.com/office/powerpoint/2010/main" val="1629396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362" y="30348"/>
            <a:ext cx="1440000" cy="1440000"/>
          </a:xfrm>
        </p:spPr>
      </p:pic>
      <p:pic>
        <p:nvPicPr>
          <p:cNvPr id="15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086" y="30348"/>
            <a:ext cx="1440000" cy="1440000"/>
          </a:xfr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FE9A4AA-F887-EDCE-1107-39C137D2176C}"/>
              </a:ext>
            </a:extLst>
          </p:cNvPr>
          <p:cNvSpPr>
            <a:spLocks noGrp="1"/>
          </p:cNvSpPr>
          <p:nvPr/>
        </p:nvSpPr>
        <p:spPr>
          <a:xfrm>
            <a:off x="0" y="1207449"/>
            <a:ext cx="12136172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500" b="1" dirty="0">
                <a:latin typeface="Consolas"/>
                <a:ea typeface="Consolas"/>
                <a:cs typeface="Consolas"/>
              </a:rPr>
              <a:t>ARCHIVOS</a:t>
            </a:r>
          </a:p>
          <a:p>
            <a:pPr algn="ctr">
              <a:buNone/>
            </a:pPr>
            <a:r>
              <a:rPr sz="8000" b="1" dirty="0">
                <a:latin typeface="Consolas"/>
                <a:ea typeface="Consolas"/>
                <a:cs typeface="Consolas"/>
              </a:rPr>
              <a:t>BAJO NIVEL</a:t>
            </a:r>
            <a:endParaRPr sz="2800" dirty="0">
              <a:latin typeface="Consolas"/>
              <a:ea typeface="Consolas"/>
              <a:cs typeface="Consolas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A98A39F-BD1D-E6E6-105F-EF132F2EDA7E}"/>
              </a:ext>
            </a:extLst>
          </p:cNvPr>
          <p:cNvSpPr>
            <a:spLocks noGrp="1"/>
          </p:cNvSpPr>
          <p:nvPr/>
        </p:nvSpPr>
        <p:spPr>
          <a:xfrm>
            <a:off x="190985" y="144449"/>
            <a:ext cx="288000" cy="288000"/>
          </a:xfrm>
          <a:prstGeom prst="ellipse">
            <a:avLst/>
          </a:prstGeom>
          <a:solidFill>
            <a:srgbClr val="FF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1C57C80-8A49-8003-23DC-C982DD00B03D}"/>
              </a:ext>
            </a:extLst>
          </p:cNvPr>
          <p:cNvSpPr>
            <a:spLocks noGrp="1"/>
          </p:cNvSpPr>
          <p:nvPr/>
        </p:nvSpPr>
        <p:spPr>
          <a:xfrm>
            <a:off x="621785" y="144449"/>
            <a:ext cx="288000" cy="28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DA42A41-1783-A237-52E2-C4BDF7DE97CC}"/>
              </a:ext>
            </a:extLst>
          </p:cNvPr>
          <p:cNvSpPr>
            <a:spLocks noGrp="1"/>
          </p:cNvSpPr>
          <p:nvPr/>
        </p:nvSpPr>
        <p:spPr>
          <a:xfrm>
            <a:off x="1052585" y="144449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83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D3CD6F-59EB-C89E-5467-02456AB7A73E}"/>
              </a:ext>
            </a:extLst>
          </p:cNvPr>
          <p:cNvSpPr>
            <a:spLocks noGrp="1"/>
          </p:cNvSpPr>
          <p:nvPr/>
        </p:nvSpPr>
        <p:spPr>
          <a:xfrm>
            <a:off x="31750" y="-4182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Llamadas</a:t>
            </a:r>
            <a:r>
              <a:rPr sz="4400" b="1" dirty="0">
                <a:latin typeface="Consolas"/>
                <a:ea typeface="Consolas"/>
                <a:cs typeface="Consolas"/>
              </a:rPr>
              <a:t> al </a:t>
            </a:r>
            <a:r>
              <a:rPr sz="4400" b="1" dirty="0" err="1">
                <a:latin typeface="Consolas"/>
                <a:ea typeface="Consolas"/>
                <a:cs typeface="Consolas"/>
              </a:rPr>
              <a:t>sistema</a:t>
            </a:r>
            <a:endParaRPr sz="4400" dirty="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5" name="Tabla 3"/>
          <p:cNvGraphicFramePr/>
          <p:nvPr>
            <p:extLst>
              <p:ext uri="{D42A27DB-BD31-4B8C-83A1-F6EECF244321}">
                <p14:modId xmlns:p14="http://schemas.microsoft.com/office/powerpoint/2010/main" val="3446924669"/>
              </p:ext>
            </p:extLst>
          </p:nvPr>
        </p:nvGraphicFramePr>
        <p:xfrm>
          <a:off x="489801" y="877844"/>
          <a:ext cx="11438342" cy="53126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9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9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8949">
                <a:tc gridSpan="2">
                  <a:txBody>
                    <a:bodyPr/>
                    <a:lstStyle/>
                    <a:p>
                      <a:r>
                        <a:rPr sz="2400" b="1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</a:rPr>
                        <a:t>Gestión de archivos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4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fd = open(ruta, banderas [, modo])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abre un archivo para leer, escribir o ambos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4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estado = close(fd)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cierra un descriptor abierto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4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n = read(fd, buffer, cantidad)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lee datos desde un archivo hacia un buffer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4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n = write(fd, buffer, cantidad)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escribe datos desde un buffer hacia un archivo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94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posición = lseek(fd, desplazamiento, referencia)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mueve la posición 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94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estado = stat(ruta, &amp;info)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Consolas"/>
                          <a:ea typeface="Consolas"/>
                          <a:cs typeface="Consolas"/>
                        </a:rPr>
                        <a:t>consulta </a:t>
                      </a:r>
                      <a:r>
                        <a:rPr sz="2000" dirty="0" err="1">
                          <a:latin typeface="Consolas"/>
                          <a:ea typeface="Consolas"/>
                          <a:cs typeface="Consolas"/>
                        </a:rPr>
                        <a:t>información</a:t>
                      </a:r>
                      <a:r>
                        <a:rPr sz="2000" dirty="0">
                          <a:latin typeface="Consolas"/>
                          <a:ea typeface="Consolas"/>
                          <a:cs typeface="Consolas"/>
                        </a:rPr>
                        <a:t> del </a:t>
                      </a:r>
                      <a:r>
                        <a:rPr sz="2000" dirty="0" err="1">
                          <a:latin typeface="Consolas"/>
                          <a:ea typeface="Consolas"/>
                          <a:cs typeface="Consolas"/>
                        </a:rPr>
                        <a:t>archivo</a:t>
                      </a:r>
                      <a:endParaRPr sz="2000" dirty="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11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D3CD6F-59EB-C89E-5467-02456AB7A73E}"/>
              </a:ext>
            </a:extLst>
          </p:cNvPr>
          <p:cNvSpPr>
            <a:spLocks noGrp="1"/>
          </p:cNvSpPr>
          <p:nvPr/>
        </p:nvSpPr>
        <p:spPr>
          <a:xfrm>
            <a:off x="31750" y="-4182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Llamadas al sistema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5" name="Tabla 3"/>
          <p:cNvGraphicFramePr/>
          <p:nvPr/>
        </p:nvGraphicFramePr>
        <p:xfrm>
          <a:off x="392704" y="896770"/>
          <a:ext cx="11441333" cy="5791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9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889">
                <a:tc gridSpan="2">
                  <a:txBody>
                    <a:bodyPr/>
                    <a:lstStyle/>
                    <a:p>
                      <a:r>
                        <a:rPr sz="2400" b="1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</a:rPr>
                        <a:t>Directory and File System Management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88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 = mkdir(name, mode)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create new directory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88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 = rmdir(name)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remove an empty directory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88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 = link(name, name)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create a new entry, name, pointing to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88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 = mount(special, name, flag)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mount a file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88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 = umount(special)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unmount a file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88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 = chdir(dirname)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change the working directory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388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 = chmod(name, mode)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change a file’s protection bits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993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D3CD6F-59EB-C89E-5467-02456AB7A73E}"/>
              </a:ext>
            </a:extLst>
          </p:cNvPr>
          <p:cNvSpPr>
            <a:spLocks noGrp="1"/>
          </p:cNvSpPr>
          <p:nvPr/>
        </p:nvSpPr>
        <p:spPr>
          <a:xfrm>
            <a:off x="31750" y="-4182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Llamadas al sistema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5" name="Tabla 3"/>
          <p:cNvGraphicFramePr/>
          <p:nvPr>
            <p:extLst>
              <p:ext uri="{D42A27DB-BD31-4B8C-83A1-F6EECF244321}">
                <p14:modId xmlns:p14="http://schemas.microsoft.com/office/powerpoint/2010/main" val="2676870491"/>
              </p:ext>
            </p:extLst>
          </p:nvPr>
        </p:nvGraphicFramePr>
        <p:xfrm>
          <a:off x="476153" y="877844"/>
          <a:ext cx="11438342" cy="22768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9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9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8949">
                <a:tc gridSpan="2">
                  <a:txBody>
                    <a:bodyPr/>
                    <a:lstStyle/>
                    <a:p>
                      <a:r>
                        <a:rPr sz="2400" b="1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</a:rPr>
                        <a:t>Miscellaneous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4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 = kill(pid, signal)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send a signal to a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49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seconds = time(&amp;seconds)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Consolas"/>
                          <a:ea typeface="Consolas"/>
                          <a:cs typeface="Consolas"/>
                        </a:rPr>
                        <a:t>get the elapsed time since January 1, 1970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57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21388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archivos</a:t>
            </a:r>
            <a:r>
              <a:rPr sz="4400" b="1" dirty="0">
                <a:latin typeface="Consolas"/>
                <a:ea typeface="Consolas"/>
                <a:cs typeface="Consolas"/>
              </a:rPr>
              <a:t> | bajo </a:t>
            </a:r>
            <a:r>
              <a:rPr sz="4400" b="1" dirty="0" err="1">
                <a:latin typeface="Consolas"/>
                <a:ea typeface="Consolas"/>
                <a:cs typeface="Consolas"/>
              </a:rPr>
              <a:t>nivel</a:t>
            </a:r>
            <a:endParaRPr sz="4400" dirty="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6055FB-230F-612C-8B9F-F1D5D692B072}"/>
              </a:ext>
            </a:extLst>
          </p:cNvPr>
          <p:cNvSpPr>
            <a:spLocks noGrp="1"/>
          </p:cNvSpPr>
          <p:nvPr/>
        </p:nvSpPr>
        <p:spPr>
          <a:xfrm>
            <a:off x="15875" y="1997632"/>
            <a:ext cx="12160250" cy="36009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s-AR" sz="40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open: </a:t>
            </a:r>
            <a:r>
              <a:rPr lang="es-AR" sz="3200" b="1" noProof="0" dirty="0">
                <a:latin typeface="Consolas"/>
                <a:ea typeface="Consolas"/>
                <a:cs typeface="Consolas"/>
              </a:rPr>
              <a:t>solicita abrir un recurso con los modos de acceso indicados y devuelve un descriptor.</a:t>
            </a:r>
          </a:p>
          <a:p>
            <a:pPr marL="571500" indent="-571500">
              <a:buFont typeface="Arial"/>
              <a:buChar char="•"/>
            </a:pPr>
            <a:endParaRPr lang="es-AR" sz="4000" b="1" noProof="0" dirty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marL="571500" indent="-571500">
              <a:buFont typeface="Arial"/>
              <a:buChar char="•"/>
            </a:pPr>
            <a:r>
              <a:rPr lang="es-AR" sz="4000" b="1" noProof="0" dirty="0" err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lang="es-AR" sz="4000" b="1" noProof="0" dirty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es-AR" sz="3200" b="1" noProof="0" dirty="0">
                <a:latin typeface="Consolas"/>
                <a:ea typeface="Consolas"/>
                <a:cs typeface="Consolas"/>
              </a:rPr>
              <a:t>finaliza el uso del descriptor y permite detectar un posible error de cierre.</a:t>
            </a:r>
            <a:endParaRPr lang="es-AR" sz="4000" b="1" noProof="0" dirty="0">
              <a:latin typeface="Consolas"/>
              <a:ea typeface="Consolas"/>
              <a:cs typeface="Consolas"/>
            </a:endParaRPr>
          </a:p>
          <a:p>
            <a:pPr marL="571500" indent="-571500">
              <a:buFont typeface="Arial"/>
              <a:buChar char="•"/>
            </a:pPr>
            <a:endParaRPr lang="es-AR" sz="4000" b="1" noProof="0" dirty="0"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26243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-3458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descriptor de archivo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6055FB-230F-612C-8B9F-F1D5D692B072}"/>
              </a:ext>
            </a:extLst>
          </p:cNvPr>
          <p:cNvSpPr>
            <a:spLocks noGrp="1"/>
          </p:cNvSpPr>
          <p:nvPr/>
        </p:nvSpPr>
        <p:spPr>
          <a:xfrm>
            <a:off x="15875" y="1997632"/>
            <a:ext cx="1216025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sz="4000" b="1">
                <a:latin typeface="Consolas"/>
                <a:ea typeface="Consolas"/>
                <a:cs typeface="Consolas"/>
              </a:rPr>
              <a:t>Un descriptor de archivo identifica un recurso abierto dentro de un proceso.</a:t>
            </a:r>
          </a:p>
          <a:p>
            <a:pPr marL="571500" indent="-571500">
              <a:buFont typeface="Arial"/>
              <a:buChar char="•"/>
            </a:pPr>
            <a:r>
              <a:rPr sz="4000" b="1">
                <a:latin typeface="Consolas"/>
                <a:ea typeface="Consolas"/>
                <a:cs typeface="Consolas"/>
              </a:rPr>
              <a:t>Es un entero no negativo.</a:t>
            </a:r>
          </a:p>
          <a:p>
            <a:pPr marL="571500" indent="-571500">
              <a:buFont typeface="Arial"/>
              <a:buChar char="•"/>
            </a:pPr>
            <a:r>
              <a:rPr sz="4000" b="1">
                <a:latin typeface="Consolas"/>
                <a:ea typeface="Consolas"/>
                <a:cs typeface="Consolas"/>
              </a:rPr>
              <a:t>Al iniciar un programa se encuentran abiertos, normalmente, los descriptores 0, 1 y 2.</a:t>
            </a:r>
          </a:p>
        </p:txBody>
      </p:sp>
    </p:spTree>
    <p:extLst>
      <p:ext uri="{BB962C8B-B14F-4D97-AF65-F5344CB8AC3E}">
        <p14:creationId xmlns:p14="http://schemas.microsoft.com/office/powerpoint/2010/main" val="681738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F53615-ADCC-F6F6-373B-84530F19B8D9}"/>
              </a:ext>
            </a:extLst>
          </p:cNvPr>
          <p:cNvSpPr>
            <a:spLocks noGrp="1"/>
          </p:cNvSpPr>
          <p:nvPr/>
        </p:nvSpPr>
        <p:spPr>
          <a:xfrm>
            <a:off x="31750" y="-3458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descriptor de archivo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30" name="Tabla 3"/>
          <p:cNvGraphicFramePr/>
          <p:nvPr/>
        </p:nvGraphicFramePr>
        <p:xfrm>
          <a:off x="555896" y="1686316"/>
          <a:ext cx="2069738" cy="37223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068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[0]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[3]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[4]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146BF349-6339-A597-6030-1382732BEA2F}"/>
              </a:ext>
            </a:extLst>
          </p:cNvPr>
          <p:cNvSpPr>
            <a:spLocks noGrp="1"/>
          </p:cNvSpPr>
          <p:nvPr/>
        </p:nvSpPr>
        <p:spPr>
          <a:xfrm>
            <a:off x="839289" y="1686316"/>
            <a:ext cx="247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File Descriptor Table</a:t>
            </a:r>
          </a:p>
        </p:txBody>
      </p:sp>
      <p:graphicFrame>
        <p:nvGraphicFramePr>
          <p:cNvPr id="32" name="Tabla 3"/>
          <p:cNvGraphicFramePr/>
          <p:nvPr/>
        </p:nvGraphicFramePr>
        <p:xfrm>
          <a:off x="4457335" y="2133600"/>
          <a:ext cx="2396310" cy="41754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6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95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13E016A-09DD-7902-9A3B-73C1E55DC4D7}"/>
              </a:ext>
            </a:extLst>
          </p:cNvPr>
          <p:cNvSpPr>
            <a:spLocks noGrp="1"/>
          </p:cNvSpPr>
          <p:nvPr/>
        </p:nvSpPr>
        <p:spPr>
          <a:xfrm>
            <a:off x="4457335" y="1686316"/>
            <a:ext cx="247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System File Table</a:t>
            </a:r>
          </a:p>
        </p:txBody>
      </p:sp>
      <p:graphicFrame>
        <p:nvGraphicFramePr>
          <p:cNvPr id="34" name="Tabla 3"/>
          <p:cNvGraphicFramePr/>
          <p:nvPr/>
        </p:nvGraphicFramePr>
        <p:xfrm>
          <a:off x="8487589" y="2133600"/>
          <a:ext cx="2890159" cy="41754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95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/home/user/test.dat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E83D5EC4-C70B-4EE4-352C-43D73EED1D77}"/>
              </a:ext>
            </a:extLst>
          </p:cNvPr>
          <p:cNvSpPr>
            <a:spLocks noGrp="1"/>
          </p:cNvSpPr>
          <p:nvPr/>
        </p:nvSpPr>
        <p:spPr>
          <a:xfrm>
            <a:off x="8693330" y="1686316"/>
            <a:ext cx="247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In-memory inode table</a:t>
            </a:r>
          </a:p>
        </p:txBody>
      </p:sp>
      <p:graphicFrame>
        <p:nvGraphicFramePr>
          <p:cNvPr id="36" name="Tabla 3"/>
          <p:cNvGraphicFramePr/>
          <p:nvPr/>
        </p:nvGraphicFramePr>
        <p:xfrm>
          <a:off x="1591423" y="5438912"/>
          <a:ext cx="1034869" cy="818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fd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36C4D81B-4B58-9ADE-A666-D5381AD7CAF1}"/>
              </a:ext>
            </a:extLst>
          </p:cNvPr>
          <p:cNvSpPr>
            <a:spLocks noGrp="1"/>
          </p:cNvSpPr>
          <p:nvPr/>
        </p:nvSpPr>
        <p:spPr>
          <a:xfrm>
            <a:off x="839289" y="1023111"/>
            <a:ext cx="8423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0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fd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 </a:t>
            </a:r>
            <a:r>
              <a:rPr sz="200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2000" b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"/home/user/test.dat"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O_RDONLY);</a:t>
            </a:r>
          </a:p>
        </p:txBody>
      </p:sp>
      <p:sp>
        <p:nvSpPr>
          <p:cNvPr id="13" name="Straight Connector 3864">
            <a:extLst>
              <a:ext uri="{FF2B5EF4-FFF2-40B4-BE49-F238E27FC236}">
                <a16:creationId xmlns:a16="http://schemas.microsoft.com/office/drawing/2014/main" id="{C4BA0862-DA8B-4A56-BF3B-9825C9627896}"/>
              </a:ext>
            </a:extLst>
          </p:cNvPr>
          <p:cNvSpPr>
            <a:spLocks noGrp="1"/>
          </p:cNvSpPr>
          <p:nvPr/>
        </p:nvSpPr>
        <p:spPr>
          <a:xfrm>
            <a:off x="2142309" y="3840480"/>
            <a:ext cx="2315026" cy="0"/>
          </a:xfrm>
          <a:prstGeom prst="line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Straight Connector 3864">
            <a:extLst>
              <a:ext uri="{FF2B5EF4-FFF2-40B4-BE49-F238E27FC236}">
                <a16:creationId xmlns:a16="http://schemas.microsoft.com/office/drawing/2014/main" id="{D10D9045-DD90-474B-915D-0E67F189E1FB}"/>
              </a:ext>
            </a:extLst>
          </p:cNvPr>
          <p:cNvSpPr>
            <a:spLocks noGrp="1"/>
          </p:cNvSpPr>
          <p:nvPr/>
        </p:nvSpPr>
        <p:spPr>
          <a:xfrm>
            <a:off x="6853645" y="3796937"/>
            <a:ext cx="1633944" cy="0"/>
          </a:xfrm>
          <a:prstGeom prst="line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Straight Connector 3864">
            <a:extLst>
              <a:ext uri="{FF2B5EF4-FFF2-40B4-BE49-F238E27FC236}">
                <a16:creationId xmlns:a16="http://schemas.microsoft.com/office/drawing/2014/main" id="{4B1D6E68-2BAE-4C70-B3B6-4DA731EE32E2}"/>
              </a:ext>
            </a:extLst>
          </p:cNvPr>
          <p:cNvSpPr>
            <a:spLocks noGrp="1"/>
          </p:cNvSpPr>
          <p:nvPr/>
        </p:nvSpPr>
        <p:spPr>
          <a:xfrm flipV="1">
            <a:off x="6853645" y="3840480"/>
            <a:ext cx="1633944" cy="944880"/>
          </a:xfrm>
          <a:prstGeom prst="line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  <a:prstDash val="sysDot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63B3071F-4F7C-AD3C-18FA-C1D0015241A8}"/>
              </a:ext>
            </a:extLst>
          </p:cNvPr>
          <p:cNvSpPr>
            <a:spLocks noGrp="1"/>
          </p:cNvSpPr>
          <p:nvPr/>
        </p:nvSpPr>
        <p:spPr>
          <a:xfrm>
            <a:off x="3742802" y="1423221"/>
            <a:ext cx="321623" cy="5330276"/>
          </a:xfrm>
          <a:custGeom>
            <a:avLst/>
            <a:gdLst>
              <a:gd name="connsiteX0" fmla="*/ 118753 w 807719"/>
              <a:gd name="connsiteY0" fmla="*/ 0 h 2185059"/>
              <a:gd name="connsiteX1" fmla="*/ 688769 w 807719"/>
              <a:gd name="connsiteY1" fmla="*/ 475013 h 2185059"/>
              <a:gd name="connsiteX2" fmla="*/ 83127 w 807719"/>
              <a:gd name="connsiteY2" fmla="*/ 1104405 h 2185059"/>
              <a:gd name="connsiteX3" fmla="*/ 807522 w 807719"/>
              <a:gd name="connsiteY3" fmla="*/ 1603168 h 2185059"/>
              <a:gd name="connsiteX4" fmla="*/ 0 w 807719"/>
              <a:gd name="connsiteY4" fmla="*/ 2185059 h 2185059"/>
            </a:gdLst>
            <a:ahLst/>
            <a:cxnLst/>
            <a:rect l="l" t="t" r="r" b="b"/>
            <a:pathLst>
              <a:path w="807719" h="2185059">
                <a:moveTo>
                  <a:pt x="118753" y="0"/>
                </a:moveTo>
                <a:cubicBezTo>
                  <a:pt x="406730" y="145473"/>
                  <a:pt x="694707" y="290946"/>
                  <a:pt x="688769" y="475013"/>
                </a:cubicBezTo>
                <a:cubicBezTo>
                  <a:pt x="682831" y="659080"/>
                  <a:pt x="63335" y="916379"/>
                  <a:pt x="83127" y="1104405"/>
                </a:cubicBezTo>
                <a:cubicBezTo>
                  <a:pt x="102919" y="1292431"/>
                  <a:pt x="821377" y="1423059"/>
                  <a:pt x="807522" y="1603168"/>
                </a:cubicBezTo>
                <a:cubicBezTo>
                  <a:pt x="793668" y="1783277"/>
                  <a:pt x="396834" y="1984168"/>
                  <a:pt x="0" y="218505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ECD18B8-DAAC-DC71-D0F7-57D043776986}"/>
              </a:ext>
            </a:extLst>
          </p:cNvPr>
          <p:cNvSpPr>
            <a:spLocks noGrp="1"/>
          </p:cNvSpPr>
          <p:nvPr/>
        </p:nvSpPr>
        <p:spPr>
          <a:xfrm>
            <a:off x="644429" y="6458300"/>
            <a:ext cx="301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92D050"/>
                </a:solidFill>
                <a:latin typeface="Consolas"/>
                <a:ea typeface="Consolas"/>
                <a:cs typeface="Consolas"/>
              </a:rPr>
              <a:t>USER</a:t>
            </a:r>
            <a:endParaRPr sz="1200" b="1">
              <a:solidFill>
                <a:srgbClr val="92D05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DA1CDD9-DD4B-6543-9D83-AD3025E87F20}"/>
              </a:ext>
            </a:extLst>
          </p:cNvPr>
          <p:cNvSpPr>
            <a:spLocks noGrp="1"/>
          </p:cNvSpPr>
          <p:nvPr/>
        </p:nvSpPr>
        <p:spPr>
          <a:xfrm>
            <a:off x="5904406" y="6426034"/>
            <a:ext cx="301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KERNEL</a:t>
            </a:r>
            <a:endParaRPr sz="1200" b="1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0598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F53615-ADCC-F6F6-373B-84530F19B8D9}"/>
              </a:ext>
            </a:extLst>
          </p:cNvPr>
          <p:cNvSpPr>
            <a:spLocks noGrp="1"/>
          </p:cNvSpPr>
          <p:nvPr/>
        </p:nvSpPr>
        <p:spPr>
          <a:xfrm>
            <a:off x="31750" y="-3458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descriptor de archivo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30" name="Tabla 3"/>
          <p:cNvGraphicFramePr/>
          <p:nvPr/>
        </p:nvGraphicFramePr>
        <p:xfrm>
          <a:off x="555896" y="1686316"/>
          <a:ext cx="2069738" cy="37223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068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[0]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USED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USED</a:t>
                      </a:r>
                      <a:endParaRPr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USED</a:t>
                      </a:r>
                      <a:endParaRPr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[3]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rgbClr val="92D050"/>
                          </a:solidFill>
                        </a:rPr>
                        <a:t>FREE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[4]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146BF349-6339-A597-6030-1382732BEA2F}"/>
              </a:ext>
            </a:extLst>
          </p:cNvPr>
          <p:cNvSpPr>
            <a:spLocks noGrp="1"/>
          </p:cNvSpPr>
          <p:nvPr/>
        </p:nvSpPr>
        <p:spPr>
          <a:xfrm>
            <a:off x="839289" y="1686316"/>
            <a:ext cx="247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File Descriptor Table</a:t>
            </a:r>
          </a:p>
        </p:txBody>
      </p:sp>
      <p:graphicFrame>
        <p:nvGraphicFramePr>
          <p:cNvPr id="32" name="Tabla 3"/>
          <p:cNvGraphicFramePr/>
          <p:nvPr/>
        </p:nvGraphicFramePr>
        <p:xfrm>
          <a:off x="4457335" y="2133600"/>
          <a:ext cx="2396310" cy="41754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6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95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rgbClr val="92D050"/>
                          </a:solidFill>
                        </a:rPr>
                        <a:t>FREE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13E016A-09DD-7902-9A3B-73C1E55DC4D7}"/>
              </a:ext>
            </a:extLst>
          </p:cNvPr>
          <p:cNvSpPr>
            <a:spLocks noGrp="1"/>
          </p:cNvSpPr>
          <p:nvPr/>
        </p:nvSpPr>
        <p:spPr>
          <a:xfrm>
            <a:off x="6548662" y="4605121"/>
            <a:ext cx="2478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/>
              <a:t>de otro proceso</a:t>
            </a:r>
          </a:p>
        </p:txBody>
      </p:sp>
      <p:graphicFrame>
        <p:nvGraphicFramePr>
          <p:cNvPr id="34" name="Tabla 3"/>
          <p:cNvGraphicFramePr/>
          <p:nvPr/>
        </p:nvGraphicFramePr>
        <p:xfrm>
          <a:off x="8487589" y="2133600"/>
          <a:ext cx="2890159" cy="41754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95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/home/user/test.dat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E83D5EC4-C70B-4EE4-352C-43D73EED1D77}"/>
              </a:ext>
            </a:extLst>
          </p:cNvPr>
          <p:cNvSpPr>
            <a:spLocks noGrp="1"/>
          </p:cNvSpPr>
          <p:nvPr/>
        </p:nvSpPr>
        <p:spPr>
          <a:xfrm>
            <a:off x="8693330" y="1686316"/>
            <a:ext cx="247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In-memory inode table</a:t>
            </a:r>
          </a:p>
        </p:txBody>
      </p:sp>
      <p:graphicFrame>
        <p:nvGraphicFramePr>
          <p:cNvPr id="36" name="Tabla 3"/>
          <p:cNvGraphicFramePr/>
          <p:nvPr/>
        </p:nvGraphicFramePr>
        <p:xfrm>
          <a:off x="1591423" y="5438912"/>
          <a:ext cx="1034869" cy="818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fd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36C4D81B-4B58-9ADE-A666-D5381AD7CAF1}"/>
              </a:ext>
            </a:extLst>
          </p:cNvPr>
          <p:cNvSpPr>
            <a:spLocks noGrp="1"/>
          </p:cNvSpPr>
          <p:nvPr/>
        </p:nvSpPr>
        <p:spPr>
          <a:xfrm>
            <a:off x="839289" y="1023111"/>
            <a:ext cx="8423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(fd);</a:t>
            </a:r>
          </a:p>
        </p:txBody>
      </p:sp>
      <p:sp>
        <p:nvSpPr>
          <p:cNvPr id="20" name="Straight Connector 3864">
            <a:extLst>
              <a:ext uri="{FF2B5EF4-FFF2-40B4-BE49-F238E27FC236}">
                <a16:creationId xmlns:a16="http://schemas.microsoft.com/office/drawing/2014/main" id="{C57E863D-07A4-431E-8595-AA363DEB3A96}"/>
              </a:ext>
            </a:extLst>
          </p:cNvPr>
          <p:cNvSpPr>
            <a:spLocks noGrp="1"/>
          </p:cNvSpPr>
          <p:nvPr/>
        </p:nvSpPr>
        <p:spPr>
          <a:xfrm flipV="1">
            <a:off x="6853645" y="3840480"/>
            <a:ext cx="1633944" cy="944880"/>
          </a:xfrm>
          <a:prstGeom prst="line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  <a:prstDash val="sysDot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63B3071F-4F7C-AD3C-18FA-C1D0015241A8}"/>
              </a:ext>
            </a:extLst>
          </p:cNvPr>
          <p:cNvSpPr>
            <a:spLocks noGrp="1"/>
          </p:cNvSpPr>
          <p:nvPr/>
        </p:nvSpPr>
        <p:spPr>
          <a:xfrm>
            <a:off x="3742802" y="1423221"/>
            <a:ext cx="321623" cy="5330276"/>
          </a:xfrm>
          <a:custGeom>
            <a:avLst/>
            <a:gdLst>
              <a:gd name="connsiteX0" fmla="*/ 118753 w 807719"/>
              <a:gd name="connsiteY0" fmla="*/ 0 h 2185059"/>
              <a:gd name="connsiteX1" fmla="*/ 688769 w 807719"/>
              <a:gd name="connsiteY1" fmla="*/ 475013 h 2185059"/>
              <a:gd name="connsiteX2" fmla="*/ 83127 w 807719"/>
              <a:gd name="connsiteY2" fmla="*/ 1104405 h 2185059"/>
              <a:gd name="connsiteX3" fmla="*/ 807522 w 807719"/>
              <a:gd name="connsiteY3" fmla="*/ 1603168 h 2185059"/>
              <a:gd name="connsiteX4" fmla="*/ 0 w 807719"/>
              <a:gd name="connsiteY4" fmla="*/ 2185059 h 2185059"/>
            </a:gdLst>
            <a:ahLst/>
            <a:cxnLst/>
            <a:rect l="l" t="t" r="r" b="b"/>
            <a:pathLst>
              <a:path w="807719" h="2185059">
                <a:moveTo>
                  <a:pt x="118753" y="0"/>
                </a:moveTo>
                <a:cubicBezTo>
                  <a:pt x="406730" y="145473"/>
                  <a:pt x="694707" y="290946"/>
                  <a:pt x="688769" y="475013"/>
                </a:cubicBezTo>
                <a:cubicBezTo>
                  <a:pt x="682831" y="659080"/>
                  <a:pt x="63335" y="916379"/>
                  <a:pt x="83127" y="1104405"/>
                </a:cubicBezTo>
                <a:cubicBezTo>
                  <a:pt x="102919" y="1292431"/>
                  <a:pt x="821377" y="1423059"/>
                  <a:pt x="807522" y="1603168"/>
                </a:cubicBezTo>
                <a:cubicBezTo>
                  <a:pt x="793668" y="1783277"/>
                  <a:pt x="396834" y="1984168"/>
                  <a:pt x="0" y="218505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ECD18B8-DAAC-DC71-D0F7-57D043776986}"/>
              </a:ext>
            </a:extLst>
          </p:cNvPr>
          <p:cNvSpPr>
            <a:spLocks noGrp="1"/>
          </p:cNvSpPr>
          <p:nvPr/>
        </p:nvSpPr>
        <p:spPr>
          <a:xfrm>
            <a:off x="644429" y="6458300"/>
            <a:ext cx="301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92D050"/>
                </a:solidFill>
                <a:latin typeface="Consolas"/>
                <a:ea typeface="Consolas"/>
                <a:cs typeface="Consolas"/>
              </a:rPr>
              <a:t>USER</a:t>
            </a:r>
            <a:endParaRPr sz="1200" b="1">
              <a:solidFill>
                <a:srgbClr val="92D05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DA1CDD9-DD4B-6543-9D83-AD3025E87F20}"/>
              </a:ext>
            </a:extLst>
          </p:cNvPr>
          <p:cNvSpPr>
            <a:spLocks noGrp="1"/>
          </p:cNvSpPr>
          <p:nvPr/>
        </p:nvSpPr>
        <p:spPr>
          <a:xfrm>
            <a:off x="5904406" y="6426034"/>
            <a:ext cx="301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KERNEL</a:t>
            </a:r>
            <a:endParaRPr sz="1200" b="1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Freeform 501">
            <a:extLst>
              <a:ext uri="{FF2B5EF4-FFF2-40B4-BE49-F238E27FC236}">
                <a16:creationId xmlns:a16="http://schemas.microsoft.com/office/drawing/2014/main" id="{7EA88FB2-E990-8FF1-109B-6966ED0A9078}"/>
              </a:ext>
            </a:extLst>
          </p:cNvPr>
          <p:cNvSpPr>
            <a:spLocks noGrp="1"/>
          </p:cNvSpPr>
          <p:nvPr/>
        </p:nvSpPr>
        <p:spPr>
          <a:xfrm>
            <a:off x="7328293" y="4088359"/>
            <a:ext cx="684648" cy="516762"/>
          </a:xfrm>
          <a:custGeom>
            <a:avLst/>
            <a:gdLst>
              <a:gd name="T0" fmla="*/ 450 w 500"/>
              <a:gd name="T1" fmla="*/ 71 h 305"/>
              <a:gd name="T2" fmla="*/ 422 w 500"/>
              <a:gd name="T3" fmla="*/ 60 h 305"/>
              <a:gd name="T4" fmla="*/ 366 w 500"/>
              <a:gd name="T5" fmla="*/ 54 h 305"/>
              <a:gd name="T6" fmla="*/ 299 w 500"/>
              <a:gd name="T7" fmla="*/ 46 h 305"/>
              <a:gd name="T8" fmla="*/ 265 w 500"/>
              <a:gd name="T9" fmla="*/ 53 h 305"/>
              <a:gd name="T10" fmla="*/ 264 w 500"/>
              <a:gd name="T11" fmla="*/ 53 h 305"/>
              <a:gd name="T12" fmla="*/ 265 w 500"/>
              <a:gd name="T13" fmla="*/ 51 h 305"/>
              <a:gd name="T14" fmla="*/ 265 w 500"/>
              <a:gd name="T15" fmla="*/ 51 h 305"/>
              <a:gd name="T16" fmla="*/ 264 w 500"/>
              <a:gd name="T17" fmla="*/ 51 h 305"/>
              <a:gd name="T18" fmla="*/ 265 w 500"/>
              <a:gd name="T19" fmla="*/ 58 h 305"/>
              <a:gd name="T20" fmla="*/ 263 w 500"/>
              <a:gd name="T21" fmla="*/ 51 h 305"/>
              <a:gd name="T22" fmla="*/ 262 w 500"/>
              <a:gd name="T23" fmla="*/ 53 h 305"/>
              <a:gd name="T24" fmla="*/ 262 w 500"/>
              <a:gd name="T25" fmla="*/ 56 h 305"/>
              <a:gd name="T26" fmla="*/ 262 w 500"/>
              <a:gd name="T27" fmla="*/ 58 h 305"/>
              <a:gd name="T28" fmla="*/ 339 w 500"/>
              <a:gd name="T29" fmla="*/ 54 h 305"/>
              <a:gd name="T30" fmla="*/ 264 w 500"/>
              <a:gd name="T31" fmla="*/ 56 h 305"/>
              <a:gd name="T32" fmla="*/ 263 w 500"/>
              <a:gd name="T33" fmla="*/ 56 h 305"/>
              <a:gd name="T34" fmla="*/ 260 w 500"/>
              <a:gd name="T35" fmla="*/ 52 h 305"/>
              <a:gd name="T36" fmla="*/ 263 w 500"/>
              <a:gd name="T37" fmla="*/ 52 h 305"/>
              <a:gd name="T38" fmla="*/ 494 w 500"/>
              <a:gd name="T39" fmla="*/ 169 h 305"/>
              <a:gd name="T40" fmla="*/ 465 w 500"/>
              <a:gd name="T41" fmla="*/ 217 h 305"/>
              <a:gd name="T42" fmla="*/ 167 w 500"/>
              <a:gd name="T43" fmla="*/ 304 h 305"/>
              <a:gd name="T44" fmla="*/ 2 w 500"/>
              <a:gd name="T45" fmla="*/ 232 h 305"/>
              <a:gd name="T46" fmla="*/ 61 w 500"/>
              <a:gd name="T47" fmla="*/ 102 h 305"/>
              <a:gd name="T48" fmla="*/ 180 w 500"/>
              <a:gd name="T49" fmla="*/ 28 h 305"/>
              <a:gd name="T50" fmla="*/ 304 w 500"/>
              <a:gd name="T51" fmla="*/ 1 h 305"/>
              <a:gd name="T52" fmla="*/ 398 w 500"/>
              <a:gd name="T53" fmla="*/ 6 h 305"/>
              <a:gd name="T54" fmla="*/ 416 w 500"/>
              <a:gd name="T55" fmla="*/ 12 h 305"/>
              <a:gd name="T56" fmla="*/ 424 w 500"/>
              <a:gd name="T57" fmla="*/ 14 h 305"/>
              <a:gd name="T58" fmla="*/ 431 w 500"/>
              <a:gd name="T59" fmla="*/ 19 h 305"/>
              <a:gd name="T60" fmla="*/ 431 w 500"/>
              <a:gd name="T61" fmla="*/ 26 h 305"/>
              <a:gd name="T62" fmla="*/ 423 w 500"/>
              <a:gd name="T63" fmla="*/ 32 h 305"/>
              <a:gd name="T64" fmla="*/ 416 w 500"/>
              <a:gd name="T65" fmla="*/ 31 h 305"/>
              <a:gd name="T66" fmla="*/ 411 w 500"/>
              <a:gd name="T67" fmla="*/ 27 h 305"/>
              <a:gd name="T68" fmla="*/ 383 w 500"/>
              <a:gd name="T69" fmla="*/ 20 h 305"/>
              <a:gd name="T70" fmla="*/ 196 w 500"/>
              <a:gd name="T71" fmla="*/ 38 h 305"/>
              <a:gd name="T72" fmla="*/ 59 w 500"/>
              <a:gd name="T73" fmla="*/ 125 h 305"/>
              <a:gd name="T74" fmla="*/ 51 w 500"/>
              <a:gd name="T75" fmla="*/ 267 h 305"/>
              <a:gd name="T76" fmla="*/ 251 w 500"/>
              <a:gd name="T77" fmla="*/ 289 h 305"/>
              <a:gd name="T78" fmla="*/ 456 w 500"/>
              <a:gd name="T79" fmla="*/ 207 h 305"/>
              <a:gd name="T80" fmla="*/ 487 w 500"/>
              <a:gd name="T81" fmla="*/ 146 h 305"/>
              <a:gd name="T82" fmla="*/ 462 w 500"/>
              <a:gd name="T83" fmla="*/ 91 h 305"/>
              <a:gd name="T84" fmla="*/ 402 w 500"/>
              <a:gd name="T85" fmla="*/ 64 h 305"/>
              <a:gd name="T86" fmla="*/ 367 w 500"/>
              <a:gd name="T87" fmla="*/ 55 h 305"/>
              <a:gd name="T88" fmla="*/ 262 w 500"/>
              <a:gd name="T89" fmla="*/ 58 h 305"/>
              <a:gd name="T90" fmla="*/ 330 w 500"/>
              <a:gd name="T91" fmla="*/ 51 h 305"/>
              <a:gd name="T92" fmla="*/ 418 w 500"/>
              <a:gd name="T93" fmla="*/ 66 h 305"/>
              <a:gd name="T94" fmla="*/ 338 w 500"/>
              <a:gd name="T95" fmla="*/ 47 h 305"/>
              <a:gd name="T96" fmla="*/ 375 w 500"/>
              <a:gd name="T97" fmla="*/ 51 h 305"/>
              <a:gd name="T98" fmla="*/ 369 w 500"/>
              <a:gd name="T99" fmla="*/ 49 h 305"/>
              <a:gd name="T100" fmla="*/ 320 w 500"/>
              <a:gd name="T101" fmla="*/ 45 h 305"/>
              <a:gd name="T102" fmla="*/ 321 w 500"/>
              <a:gd name="T103" fmla="*/ 44 h 305"/>
              <a:gd name="T104" fmla="*/ 307 w 500"/>
              <a:gd name="T105" fmla="*/ 44 h 305"/>
              <a:gd name="T106" fmla="*/ 360 w 500"/>
              <a:gd name="T107" fmla="*/ 45 h 305"/>
              <a:gd name="T108" fmla="*/ 424 w 500"/>
              <a:gd name="T109" fmla="*/ 61 h 305"/>
              <a:gd name="T110" fmla="*/ 480 w 500"/>
              <a:gd name="T111" fmla="*/ 91 h 305"/>
              <a:gd name="T112" fmla="*/ 500 w 500"/>
              <a:gd name="T113" fmla="*/ 148 h 305"/>
              <a:gd name="T114" fmla="*/ 366 w 500"/>
              <a:gd name="T115" fmla="*/ 47 h 305"/>
              <a:gd name="T116" fmla="*/ 391 w 500"/>
              <a:gd name="T117" fmla="*/ 61 h 305"/>
            </a:gdLst>
            <a:ahLst/>
            <a:cxnLst/>
            <a:rect l="0" t="0" r="r" b="b"/>
            <a:pathLst>
              <a:path w="500" h="305">
                <a:moveTo>
                  <a:pt x="484" y="124"/>
                </a:moveTo>
                <a:cubicBezTo>
                  <a:pt x="485" y="125"/>
                  <a:pt x="485" y="127"/>
                  <a:pt x="485" y="128"/>
                </a:cubicBezTo>
                <a:lnTo>
                  <a:pt x="484" y="124"/>
                </a:lnTo>
                <a:close/>
                <a:moveTo>
                  <a:pt x="450" y="71"/>
                </a:moveTo>
                <a:cubicBezTo>
                  <a:pt x="449" y="70"/>
                  <a:pt x="448" y="69"/>
                  <a:pt x="445" y="68"/>
                </a:cubicBezTo>
                <a:cubicBezTo>
                  <a:pt x="445" y="68"/>
                  <a:pt x="449" y="70"/>
                  <a:pt x="450" y="71"/>
                </a:cubicBezTo>
                <a:close/>
                <a:moveTo>
                  <a:pt x="438" y="65"/>
                </a:moveTo>
                <a:cubicBezTo>
                  <a:pt x="440" y="66"/>
                  <a:pt x="443" y="67"/>
                  <a:pt x="443" y="67"/>
                </a:cubicBezTo>
                <a:cubicBezTo>
                  <a:pt x="442" y="67"/>
                  <a:pt x="438" y="65"/>
                  <a:pt x="438" y="65"/>
                </a:cubicBezTo>
                <a:close/>
                <a:moveTo>
                  <a:pt x="422" y="60"/>
                </a:moveTo>
                <a:cubicBezTo>
                  <a:pt x="420" y="60"/>
                  <a:pt x="417" y="58"/>
                  <a:pt x="417" y="58"/>
                </a:cubicBezTo>
                <a:cubicBezTo>
                  <a:pt x="418" y="59"/>
                  <a:pt x="421" y="60"/>
                  <a:pt x="422" y="60"/>
                </a:cubicBezTo>
                <a:close/>
                <a:moveTo>
                  <a:pt x="413" y="55"/>
                </a:moveTo>
                <a:cubicBezTo>
                  <a:pt x="410" y="54"/>
                  <a:pt x="405" y="52"/>
                  <a:pt x="404" y="52"/>
                </a:cubicBezTo>
                <a:cubicBezTo>
                  <a:pt x="408" y="53"/>
                  <a:pt x="411" y="54"/>
                  <a:pt x="413" y="55"/>
                </a:cubicBezTo>
                <a:close/>
                <a:moveTo>
                  <a:pt x="366" y="54"/>
                </a:moveTo>
                <a:cubicBezTo>
                  <a:pt x="370" y="55"/>
                  <a:pt x="379" y="56"/>
                  <a:pt x="384" y="57"/>
                </a:cubicBezTo>
                <a:cubicBezTo>
                  <a:pt x="379" y="56"/>
                  <a:pt x="372" y="55"/>
                  <a:pt x="366" y="54"/>
                </a:cubicBezTo>
                <a:close/>
                <a:moveTo>
                  <a:pt x="366" y="49"/>
                </a:moveTo>
                <a:cubicBezTo>
                  <a:pt x="361" y="48"/>
                  <a:pt x="361" y="48"/>
                  <a:pt x="361" y="48"/>
                </a:cubicBezTo>
                <a:cubicBezTo>
                  <a:pt x="359" y="48"/>
                  <a:pt x="347" y="47"/>
                  <a:pt x="348" y="47"/>
                </a:cubicBezTo>
                <a:cubicBezTo>
                  <a:pt x="356" y="47"/>
                  <a:pt x="366" y="49"/>
                  <a:pt x="372" y="50"/>
                </a:cubicBezTo>
                <a:cubicBezTo>
                  <a:pt x="370" y="50"/>
                  <a:pt x="368" y="50"/>
                  <a:pt x="366" y="49"/>
                </a:cubicBezTo>
                <a:close/>
                <a:moveTo>
                  <a:pt x="299" y="46"/>
                </a:moveTo>
                <a:cubicBezTo>
                  <a:pt x="296" y="46"/>
                  <a:pt x="296" y="46"/>
                  <a:pt x="296" y="46"/>
                </a:cubicBezTo>
                <a:cubicBezTo>
                  <a:pt x="296" y="47"/>
                  <a:pt x="296" y="47"/>
                  <a:pt x="297" y="47"/>
                </a:cubicBezTo>
                <a:cubicBezTo>
                  <a:pt x="299" y="46"/>
                  <a:pt x="299" y="46"/>
                  <a:pt x="299" y="46"/>
                </a:cubicBez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5" y="53"/>
                  <a:pt x="265" y="53"/>
                </a:cubicBezTo>
                <a:cubicBezTo>
                  <a:pt x="265" y="53"/>
                  <a:pt x="265" y="53"/>
                  <a:pt x="265" y="53"/>
                </a:cubicBezTo>
                <a:cubicBezTo>
                  <a:pt x="269" y="52"/>
                  <a:pt x="269" y="52"/>
                  <a:pt x="269" y="52"/>
                </a:cubicBezTo>
                <a:lnTo>
                  <a:pt x="264" y="53"/>
                </a:ln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ubicBezTo>
                  <a:pt x="263" y="53"/>
                  <a:pt x="264" y="53"/>
                  <a:pt x="264" y="53"/>
                </a:cubicBez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lose/>
                <a:moveTo>
                  <a:pt x="265" y="51"/>
                </a:move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5" y="51"/>
                </a:cubicBezTo>
                <a:cubicBezTo>
                  <a:pt x="265" y="51"/>
                  <a:pt x="265" y="51"/>
                  <a:pt x="265" y="51"/>
                </a:cubicBezTo>
                <a:cubicBezTo>
                  <a:pt x="265" y="51"/>
                  <a:pt x="265" y="51"/>
                  <a:pt x="265" y="50"/>
                </a:cubicBezTo>
                <a:cubicBezTo>
                  <a:pt x="265" y="51"/>
                  <a:pt x="265" y="51"/>
                  <a:pt x="265" y="51"/>
                </a:cubicBezTo>
                <a:close/>
                <a:moveTo>
                  <a:pt x="265" y="57"/>
                </a:moveTo>
                <a:cubicBezTo>
                  <a:pt x="265" y="57"/>
                  <a:pt x="265" y="57"/>
                  <a:pt x="265" y="57"/>
                </a:cubicBezTo>
                <a:cubicBezTo>
                  <a:pt x="265" y="57"/>
                  <a:pt x="265" y="57"/>
                  <a:pt x="265" y="57"/>
                </a:cubicBezTo>
                <a:close/>
                <a:moveTo>
                  <a:pt x="264" y="51"/>
                </a:moveTo>
                <a:cubicBezTo>
                  <a:pt x="264" y="51"/>
                  <a:pt x="264" y="52"/>
                  <a:pt x="264" y="52"/>
                </a:cubicBezTo>
                <a:cubicBezTo>
                  <a:pt x="264" y="52"/>
                  <a:pt x="264" y="52"/>
                  <a:pt x="264" y="51"/>
                </a:cubicBezTo>
                <a:close/>
                <a:moveTo>
                  <a:pt x="264" y="51"/>
                </a:move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4" y="51"/>
                </a:cubicBezTo>
                <a:close/>
                <a:moveTo>
                  <a:pt x="265" y="58"/>
                </a:moveTo>
                <a:cubicBezTo>
                  <a:pt x="265" y="58"/>
                  <a:pt x="265" y="58"/>
                  <a:pt x="265" y="58"/>
                </a:cubicBezTo>
                <a:cubicBezTo>
                  <a:pt x="265" y="58"/>
                  <a:pt x="265" y="58"/>
                  <a:pt x="265" y="58"/>
                </a:cubicBezTo>
                <a:close/>
                <a:moveTo>
                  <a:pt x="265" y="57"/>
                </a:moveTo>
                <a:cubicBezTo>
                  <a:pt x="264" y="57"/>
                  <a:pt x="264" y="57"/>
                  <a:pt x="264" y="57"/>
                </a:cubicBezTo>
                <a:cubicBezTo>
                  <a:pt x="264" y="57"/>
                  <a:pt x="265" y="57"/>
                  <a:pt x="265" y="57"/>
                </a:cubicBezTo>
                <a:close/>
                <a:moveTo>
                  <a:pt x="263" y="51"/>
                </a:moveTo>
                <a:cubicBezTo>
                  <a:pt x="263" y="51"/>
                  <a:pt x="263" y="51"/>
                  <a:pt x="263" y="51"/>
                </a:cubicBezTo>
                <a:cubicBezTo>
                  <a:pt x="263" y="51"/>
                  <a:pt x="263" y="51"/>
                  <a:pt x="263" y="51"/>
                </a:cubicBezTo>
                <a:close/>
                <a:moveTo>
                  <a:pt x="263" y="54"/>
                </a:moveTo>
                <a:cubicBezTo>
                  <a:pt x="263" y="54"/>
                  <a:pt x="263" y="53"/>
                  <a:pt x="263" y="53"/>
                </a:cubicBezTo>
                <a:cubicBezTo>
                  <a:pt x="263" y="53"/>
                  <a:pt x="263" y="53"/>
                  <a:pt x="263" y="54"/>
                </a:cubicBezTo>
                <a:close/>
                <a:moveTo>
                  <a:pt x="262" y="53"/>
                </a:moveTo>
                <a:cubicBezTo>
                  <a:pt x="263" y="53"/>
                  <a:pt x="263" y="53"/>
                  <a:pt x="263" y="53"/>
                </a:cubicBezTo>
                <a:cubicBezTo>
                  <a:pt x="263" y="53"/>
                  <a:pt x="262" y="53"/>
                  <a:pt x="262" y="53"/>
                </a:cubicBezTo>
                <a:close/>
                <a:moveTo>
                  <a:pt x="262" y="53"/>
                </a:moveTo>
                <a:cubicBezTo>
                  <a:pt x="262" y="52"/>
                  <a:pt x="262" y="53"/>
                  <a:pt x="262" y="53"/>
                </a:cubicBezTo>
                <a:cubicBezTo>
                  <a:pt x="262" y="53"/>
                  <a:pt x="262" y="52"/>
                  <a:pt x="262" y="52"/>
                </a:cubicBezTo>
                <a:cubicBezTo>
                  <a:pt x="262" y="53"/>
                  <a:pt x="262" y="53"/>
                  <a:pt x="262" y="53"/>
                </a:cubicBezTo>
                <a:close/>
                <a:moveTo>
                  <a:pt x="262" y="56"/>
                </a:moveTo>
                <a:cubicBezTo>
                  <a:pt x="263" y="56"/>
                  <a:pt x="262" y="56"/>
                  <a:pt x="262" y="56"/>
                </a:cubicBezTo>
                <a:close/>
                <a:moveTo>
                  <a:pt x="261" y="58"/>
                </a:moveTo>
                <a:cubicBezTo>
                  <a:pt x="262" y="58"/>
                  <a:pt x="262" y="58"/>
                  <a:pt x="262" y="58"/>
                </a:cubicBezTo>
                <a:cubicBezTo>
                  <a:pt x="262" y="58"/>
                  <a:pt x="261" y="58"/>
                  <a:pt x="261" y="58"/>
                </a:cubicBezTo>
                <a:close/>
                <a:moveTo>
                  <a:pt x="262" y="58"/>
                </a:moveTo>
                <a:cubicBezTo>
                  <a:pt x="262" y="58"/>
                  <a:pt x="262" y="58"/>
                  <a:pt x="262" y="58"/>
                </a:cubicBezTo>
                <a:cubicBezTo>
                  <a:pt x="262" y="59"/>
                  <a:pt x="262" y="59"/>
                  <a:pt x="262" y="58"/>
                </a:cubicBezTo>
                <a:close/>
                <a:moveTo>
                  <a:pt x="262" y="61"/>
                </a:moveTo>
                <a:cubicBezTo>
                  <a:pt x="262" y="61"/>
                  <a:pt x="262" y="61"/>
                  <a:pt x="262" y="61"/>
                </a:cubicBezTo>
                <a:cubicBezTo>
                  <a:pt x="262" y="61"/>
                  <a:pt x="262" y="61"/>
                  <a:pt x="262" y="61"/>
                </a:cubicBezTo>
                <a:close/>
                <a:moveTo>
                  <a:pt x="261" y="61"/>
                </a:moveTo>
                <a:cubicBezTo>
                  <a:pt x="260" y="61"/>
                  <a:pt x="260" y="61"/>
                  <a:pt x="261" y="61"/>
                </a:cubicBezTo>
                <a:close/>
                <a:moveTo>
                  <a:pt x="339" y="54"/>
                </a:moveTo>
                <a:cubicBezTo>
                  <a:pt x="334" y="54"/>
                  <a:pt x="330" y="54"/>
                  <a:pt x="326" y="54"/>
                </a:cubicBezTo>
                <a:cubicBezTo>
                  <a:pt x="329" y="54"/>
                  <a:pt x="333" y="54"/>
                  <a:pt x="336" y="54"/>
                </a:cubicBezTo>
                <a:cubicBezTo>
                  <a:pt x="336" y="54"/>
                  <a:pt x="338" y="54"/>
                  <a:pt x="339" y="54"/>
                </a:cubicBezTo>
                <a:close/>
                <a:moveTo>
                  <a:pt x="263" y="56"/>
                </a:moveTo>
                <a:cubicBezTo>
                  <a:pt x="264" y="56"/>
                  <a:pt x="264" y="56"/>
                  <a:pt x="264" y="56"/>
                </a:cubicBezTo>
                <a:cubicBezTo>
                  <a:pt x="264" y="56"/>
                  <a:pt x="264" y="56"/>
                  <a:pt x="264" y="56"/>
                </a:cubicBezTo>
                <a:cubicBezTo>
                  <a:pt x="264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5"/>
                </a:cubicBezTo>
                <a:cubicBezTo>
                  <a:pt x="265" y="56"/>
                  <a:pt x="264" y="56"/>
                  <a:pt x="263" y="56"/>
                </a:cubicBezTo>
                <a:close/>
                <a:moveTo>
                  <a:pt x="264" y="52"/>
                </a:moveTo>
                <a:cubicBezTo>
                  <a:pt x="264" y="52"/>
                  <a:pt x="264" y="52"/>
                  <a:pt x="264" y="52"/>
                </a:cubicBezTo>
                <a:cubicBezTo>
                  <a:pt x="264" y="52"/>
                  <a:pt x="263" y="52"/>
                  <a:pt x="263" y="52"/>
                </a:cubicBezTo>
                <a:cubicBezTo>
                  <a:pt x="263" y="52"/>
                  <a:pt x="264" y="52"/>
                  <a:pt x="264" y="52"/>
                </a:cubicBezTo>
                <a:close/>
                <a:moveTo>
                  <a:pt x="261" y="53"/>
                </a:moveTo>
                <a:cubicBezTo>
                  <a:pt x="261" y="52"/>
                  <a:pt x="261" y="52"/>
                  <a:pt x="260" y="52"/>
                </a:cubicBezTo>
                <a:cubicBezTo>
                  <a:pt x="260" y="53"/>
                  <a:pt x="259" y="53"/>
                  <a:pt x="259" y="53"/>
                </a:cubicBezTo>
                <a:cubicBezTo>
                  <a:pt x="259" y="53"/>
                  <a:pt x="260" y="53"/>
                  <a:pt x="260" y="53"/>
                </a:cubicBezTo>
                <a:cubicBezTo>
                  <a:pt x="260" y="53"/>
                  <a:pt x="260" y="53"/>
                  <a:pt x="260" y="53"/>
                </a:cubicBezTo>
                <a:cubicBezTo>
                  <a:pt x="261" y="53"/>
                  <a:pt x="261" y="53"/>
                  <a:pt x="262" y="52"/>
                </a:cubicBezTo>
                <a:cubicBezTo>
                  <a:pt x="262" y="52"/>
                  <a:pt x="262" y="52"/>
                  <a:pt x="262" y="52"/>
                </a:cubicBezTo>
                <a:cubicBezTo>
                  <a:pt x="262" y="52"/>
                  <a:pt x="263" y="52"/>
                  <a:pt x="263" y="52"/>
                </a:cubicBezTo>
                <a:cubicBezTo>
                  <a:pt x="262" y="52"/>
                  <a:pt x="262" y="52"/>
                  <a:pt x="261" y="53"/>
                </a:cubicBezTo>
                <a:close/>
                <a:moveTo>
                  <a:pt x="262" y="59"/>
                </a:moveTo>
                <a:cubicBezTo>
                  <a:pt x="262" y="59"/>
                  <a:pt x="262" y="59"/>
                  <a:pt x="262" y="59"/>
                </a:cubicBezTo>
                <a:cubicBezTo>
                  <a:pt x="262" y="59"/>
                  <a:pt x="262" y="59"/>
                  <a:pt x="262" y="59"/>
                </a:cubicBezTo>
                <a:close/>
                <a:moveTo>
                  <a:pt x="500" y="148"/>
                </a:moveTo>
                <a:cubicBezTo>
                  <a:pt x="498" y="158"/>
                  <a:pt x="496" y="166"/>
                  <a:pt x="494" y="169"/>
                </a:cubicBezTo>
                <a:cubicBezTo>
                  <a:pt x="493" y="172"/>
                  <a:pt x="495" y="168"/>
                  <a:pt x="494" y="170"/>
                </a:cubicBezTo>
                <a:cubicBezTo>
                  <a:pt x="493" y="174"/>
                  <a:pt x="490" y="181"/>
                  <a:pt x="488" y="184"/>
                </a:cubicBezTo>
                <a:cubicBezTo>
                  <a:pt x="486" y="189"/>
                  <a:pt x="483" y="194"/>
                  <a:pt x="480" y="199"/>
                </a:cubicBezTo>
                <a:cubicBezTo>
                  <a:pt x="478" y="202"/>
                  <a:pt x="477" y="204"/>
                  <a:pt x="475" y="206"/>
                </a:cubicBezTo>
                <a:cubicBezTo>
                  <a:pt x="470" y="212"/>
                  <a:pt x="470" y="212"/>
                  <a:pt x="470" y="212"/>
                </a:cubicBezTo>
                <a:cubicBezTo>
                  <a:pt x="469" y="214"/>
                  <a:pt x="466" y="216"/>
                  <a:pt x="465" y="217"/>
                </a:cubicBezTo>
                <a:cubicBezTo>
                  <a:pt x="462" y="221"/>
                  <a:pt x="456" y="228"/>
                  <a:pt x="452" y="232"/>
                </a:cubicBezTo>
                <a:cubicBezTo>
                  <a:pt x="438" y="245"/>
                  <a:pt x="422" y="256"/>
                  <a:pt x="405" y="264"/>
                </a:cubicBezTo>
                <a:cubicBezTo>
                  <a:pt x="387" y="272"/>
                  <a:pt x="369" y="278"/>
                  <a:pt x="351" y="284"/>
                </a:cubicBezTo>
                <a:cubicBezTo>
                  <a:pt x="314" y="295"/>
                  <a:pt x="277" y="301"/>
                  <a:pt x="239" y="304"/>
                </a:cubicBezTo>
                <a:cubicBezTo>
                  <a:pt x="221" y="305"/>
                  <a:pt x="200" y="305"/>
                  <a:pt x="183" y="305"/>
                </a:cubicBezTo>
                <a:cubicBezTo>
                  <a:pt x="177" y="304"/>
                  <a:pt x="172" y="304"/>
                  <a:pt x="167" y="304"/>
                </a:cubicBezTo>
                <a:cubicBezTo>
                  <a:pt x="155" y="303"/>
                  <a:pt x="142" y="302"/>
                  <a:pt x="129" y="301"/>
                </a:cubicBezTo>
                <a:cubicBezTo>
                  <a:pt x="116" y="299"/>
                  <a:pt x="103" y="298"/>
                  <a:pt x="93" y="296"/>
                </a:cubicBezTo>
                <a:cubicBezTo>
                  <a:pt x="77" y="292"/>
                  <a:pt x="61" y="288"/>
                  <a:pt x="45" y="280"/>
                </a:cubicBezTo>
                <a:cubicBezTo>
                  <a:pt x="38" y="277"/>
                  <a:pt x="32" y="273"/>
                  <a:pt x="27" y="269"/>
                </a:cubicBezTo>
                <a:cubicBezTo>
                  <a:pt x="24" y="268"/>
                  <a:pt x="22" y="266"/>
                  <a:pt x="20" y="264"/>
                </a:cubicBezTo>
                <a:cubicBezTo>
                  <a:pt x="11" y="256"/>
                  <a:pt x="4" y="244"/>
                  <a:pt x="2" y="232"/>
                </a:cubicBezTo>
                <a:cubicBezTo>
                  <a:pt x="1" y="225"/>
                  <a:pt x="0" y="219"/>
                  <a:pt x="0" y="213"/>
                </a:cubicBezTo>
                <a:cubicBezTo>
                  <a:pt x="0" y="203"/>
                  <a:pt x="2" y="191"/>
                  <a:pt x="6" y="180"/>
                </a:cubicBezTo>
                <a:cubicBezTo>
                  <a:pt x="10" y="169"/>
                  <a:pt x="16" y="158"/>
                  <a:pt x="22" y="148"/>
                </a:cubicBezTo>
                <a:cubicBezTo>
                  <a:pt x="25" y="143"/>
                  <a:pt x="29" y="139"/>
                  <a:pt x="32" y="134"/>
                </a:cubicBezTo>
                <a:cubicBezTo>
                  <a:pt x="34" y="132"/>
                  <a:pt x="36" y="130"/>
                  <a:pt x="38" y="127"/>
                </a:cubicBezTo>
                <a:cubicBezTo>
                  <a:pt x="44" y="119"/>
                  <a:pt x="54" y="109"/>
                  <a:pt x="61" y="102"/>
                </a:cubicBezTo>
                <a:cubicBezTo>
                  <a:pt x="65" y="98"/>
                  <a:pt x="69" y="95"/>
                  <a:pt x="74" y="91"/>
                </a:cubicBezTo>
                <a:cubicBezTo>
                  <a:pt x="83" y="83"/>
                  <a:pt x="92" y="76"/>
                  <a:pt x="100" y="70"/>
                </a:cubicBezTo>
                <a:cubicBezTo>
                  <a:pt x="111" y="62"/>
                  <a:pt x="128" y="52"/>
                  <a:pt x="143" y="45"/>
                </a:cubicBezTo>
                <a:cubicBezTo>
                  <a:pt x="144" y="44"/>
                  <a:pt x="144" y="44"/>
                  <a:pt x="144" y="44"/>
                </a:cubicBezTo>
                <a:cubicBezTo>
                  <a:pt x="155" y="39"/>
                  <a:pt x="166" y="33"/>
                  <a:pt x="177" y="29"/>
                </a:cubicBezTo>
                <a:cubicBezTo>
                  <a:pt x="179" y="29"/>
                  <a:pt x="179" y="29"/>
                  <a:pt x="180" y="28"/>
                </a:cubicBezTo>
                <a:cubicBezTo>
                  <a:pt x="194" y="23"/>
                  <a:pt x="194" y="23"/>
                  <a:pt x="194" y="23"/>
                </a:cubicBezTo>
                <a:cubicBezTo>
                  <a:pt x="215" y="16"/>
                  <a:pt x="231" y="12"/>
                  <a:pt x="249" y="9"/>
                </a:cubicBezTo>
                <a:cubicBezTo>
                  <a:pt x="259" y="6"/>
                  <a:pt x="271" y="5"/>
                  <a:pt x="281" y="3"/>
                </a:cubicBezTo>
                <a:cubicBezTo>
                  <a:pt x="284" y="3"/>
                  <a:pt x="287" y="2"/>
                  <a:pt x="290" y="2"/>
                </a:cubicBezTo>
                <a:cubicBezTo>
                  <a:pt x="293" y="2"/>
                  <a:pt x="295" y="2"/>
                  <a:pt x="297" y="1"/>
                </a:cubicBezTo>
                <a:cubicBezTo>
                  <a:pt x="304" y="1"/>
                  <a:pt x="304" y="1"/>
                  <a:pt x="304" y="1"/>
                </a:cubicBezTo>
                <a:cubicBezTo>
                  <a:pt x="307" y="1"/>
                  <a:pt x="311" y="0"/>
                  <a:pt x="314" y="0"/>
                </a:cubicBezTo>
                <a:cubicBezTo>
                  <a:pt x="318" y="0"/>
                  <a:pt x="321" y="0"/>
                  <a:pt x="324" y="0"/>
                </a:cubicBezTo>
                <a:cubicBezTo>
                  <a:pt x="327" y="0"/>
                  <a:pt x="331" y="0"/>
                  <a:pt x="334" y="0"/>
                </a:cubicBezTo>
                <a:cubicBezTo>
                  <a:pt x="343" y="0"/>
                  <a:pt x="351" y="0"/>
                  <a:pt x="361" y="1"/>
                </a:cubicBezTo>
                <a:cubicBezTo>
                  <a:pt x="368" y="2"/>
                  <a:pt x="376" y="2"/>
                  <a:pt x="384" y="4"/>
                </a:cubicBezTo>
                <a:cubicBezTo>
                  <a:pt x="389" y="4"/>
                  <a:pt x="394" y="5"/>
                  <a:pt x="398" y="6"/>
                </a:cubicBezTo>
                <a:cubicBezTo>
                  <a:pt x="400" y="7"/>
                  <a:pt x="403" y="8"/>
                  <a:pt x="405" y="8"/>
                </a:cubicBezTo>
                <a:cubicBezTo>
                  <a:pt x="408" y="9"/>
                  <a:pt x="410" y="10"/>
                  <a:pt x="413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6" y="11"/>
                  <a:pt x="416" y="11"/>
                  <a:pt x="416" y="12"/>
                </a:cubicBezTo>
                <a:cubicBezTo>
                  <a:pt x="417" y="12"/>
                  <a:pt x="419" y="13"/>
                  <a:pt x="420" y="12"/>
                </a:cubicBezTo>
                <a:cubicBezTo>
                  <a:pt x="420" y="12"/>
                  <a:pt x="420" y="12"/>
                  <a:pt x="420" y="12"/>
                </a:cubicBezTo>
                <a:cubicBezTo>
                  <a:pt x="421" y="12"/>
                  <a:pt x="421" y="12"/>
                  <a:pt x="421" y="12"/>
                </a:cubicBezTo>
                <a:cubicBezTo>
                  <a:pt x="421" y="13"/>
                  <a:pt x="422" y="13"/>
                  <a:pt x="423" y="13"/>
                </a:cubicBezTo>
                <a:cubicBezTo>
                  <a:pt x="423" y="13"/>
                  <a:pt x="423" y="13"/>
                  <a:pt x="423" y="13"/>
                </a:cubicBezTo>
                <a:cubicBezTo>
                  <a:pt x="424" y="13"/>
                  <a:pt x="424" y="14"/>
                  <a:pt x="424" y="14"/>
                </a:cubicBezTo>
                <a:cubicBezTo>
                  <a:pt x="425" y="14"/>
                  <a:pt x="425" y="14"/>
                  <a:pt x="425" y="14"/>
                </a:cubicBezTo>
                <a:cubicBezTo>
                  <a:pt x="426" y="14"/>
                  <a:pt x="426" y="14"/>
                  <a:pt x="426" y="15"/>
                </a:cubicBezTo>
                <a:cubicBezTo>
                  <a:pt x="426" y="15"/>
                  <a:pt x="426" y="15"/>
                  <a:pt x="426" y="15"/>
                </a:cubicBezTo>
                <a:cubicBezTo>
                  <a:pt x="426" y="15"/>
                  <a:pt x="427" y="16"/>
                  <a:pt x="428" y="16"/>
                </a:cubicBezTo>
                <a:cubicBezTo>
                  <a:pt x="428" y="17"/>
                  <a:pt x="429" y="17"/>
                  <a:pt x="429" y="17"/>
                </a:cubicBezTo>
                <a:cubicBezTo>
                  <a:pt x="430" y="17"/>
                  <a:pt x="430" y="19"/>
                  <a:pt x="431" y="19"/>
                </a:cubicBezTo>
                <a:cubicBezTo>
                  <a:pt x="430" y="20"/>
                  <a:pt x="431" y="20"/>
                  <a:pt x="431" y="20"/>
                </a:cubicBezTo>
                <a:cubicBezTo>
                  <a:pt x="431" y="20"/>
                  <a:pt x="431" y="21"/>
                  <a:pt x="431" y="21"/>
                </a:cubicBezTo>
                <a:cubicBezTo>
                  <a:pt x="431" y="21"/>
                  <a:pt x="431" y="22"/>
                  <a:pt x="431" y="22"/>
                </a:cubicBezTo>
                <a:cubicBezTo>
                  <a:pt x="431" y="22"/>
                  <a:pt x="431" y="23"/>
                  <a:pt x="431" y="23"/>
                </a:cubicBezTo>
                <a:cubicBezTo>
                  <a:pt x="431" y="23"/>
                  <a:pt x="432" y="24"/>
                  <a:pt x="432" y="24"/>
                </a:cubicBezTo>
                <a:cubicBezTo>
                  <a:pt x="432" y="25"/>
                  <a:pt x="431" y="25"/>
                  <a:pt x="431" y="26"/>
                </a:cubicBezTo>
                <a:cubicBezTo>
                  <a:pt x="431" y="27"/>
                  <a:pt x="430" y="28"/>
                  <a:pt x="430" y="29"/>
                </a:cubicBezTo>
                <a:cubicBezTo>
                  <a:pt x="430" y="29"/>
                  <a:pt x="430" y="29"/>
                  <a:pt x="430" y="29"/>
                </a:cubicBezTo>
                <a:cubicBezTo>
                  <a:pt x="429" y="29"/>
                  <a:pt x="429" y="30"/>
                  <a:pt x="428" y="30"/>
                </a:cubicBezTo>
                <a:cubicBezTo>
                  <a:pt x="428" y="30"/>
                  <a:pt x="428" y="30"/>
                  <a:pt x="428" y="31"/>
                </a:cubicBezTo>
                <a:cubicBezTo>
                  <a:pt x="427" y="31"/>
                  <a:pt x="427" y="31"/>
                  <a:pt x="427" y="31"/>
                </a:cubicBezTo>
                <a:cubicBezTo>
                  <a:pt x="426" y="31"/>
                  <a:pt x="424" y="32"/>
                  <a:pt x="423" y="32"/>
                </a:cubicBezTo>
                <a:cubicBezTo>
                  <a:pt x="423" y="32"/>
                  <a:pt x="423" y="32"/>
                  <a:pt x="423" y="32"/>
                </a:cubicBezTo>
                <a:cubicBezTo>
                  <a:pt x="422" y="32"/>
                  <a:pt x="422" y="32"/>
                  <a:pt x="421" y="32"/>
                </a:cubicBezTo>
                <a:cubicBezTo>
                  <a:pt x="421" y="33"/>
                  <a:pt x="420" y="32"/>
                  <a:pt x="420" y="32"/>
                </a:cubicBezTo>
                <a:cubicBezTo>
                  <a:pt x="420" y="32"/>
                  <a:pt x="419" y="32"/>
                  <a:pt x="419" y="32"/>
                </a:cubicBezTo>
                <a:cubicBezTo>
                  <a:pt x="419" y="32"/>
                  <a:pt x="418" y="32"/>
                  <a:pt x="418" y="32"/>
                </a:cubicBezTo>
                <a:cubicBezTo>
                  <a:pt x="417" y="32"/>
                  <a:pt x="417" y="31"/>
                  <a:pt x="416" y="31"/>
                </a:cubicBezTo>
                <a:cubicBezTo>
                  <a:pt x="416" y="31"/>
                  <a:pt x="416" y="31"/>
                  <a:pt x="416" y="31"/>
                </a:cubicBezTo>
                <a:cubicBezTo>
                  <a:pt x="415" y="31"/>
                  <a:pt x="415" y="30"/>
                  <a:pt x="415" y="30"/>
                </a:cubicBezTo>
                <a:cubicBezTo>
                  <a:pt x="415" y="30"/>
                  <a:pt x="415" y="30"/>
                  <a:pt x="414" y="30"/>
                </a:cubicBezTo>
                <a:cubicBezTo>
                  <a:pt x="414" y="29"/>
                  <a:pt x="415" y="29"/>
                  <a:pt x="414" y="29"/>
                </a:cubicBezTo>
                <a:cubicBezTo>
                  <a:pt x="414" y="28"/>
                  <a:pt x="413" y="30"/>
                  <a:pt x="413" y="29"/>
                </a:cubicBezTo>
                <a:cubicBezTo>
                  <a:pt x="413" y="28"/>
                  <a:pt x="412" y="28"/>
                  <a:pt x="411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08" y="26"/>
                  <a:pt x="408" y="26"/>
                  <a:pt x="408" y="26"/>
                </a:cubicBezTo>
                <a:cubicBezTo>
                  <a:pt x="407" y="26"/>
                  <a:pt x="407" y="26"/>
                  <a:pt x="407" y="26"/>
                </a:cubicBezTo>
                <a:cubicBezTo>
                  <a:pt x="399" y="23"/>
                  <a:pt x="390" y="21"/>
                  <a:pt x="383" y="20"/>
                </a:cubicBezTo>
                <a:cubicBezTo>
                  <a:pt x="376" y="19"/>
                  <a:pt x="370" y="18"/>
                  <a:pt x="363" y="17"/>
                </a:cubicBezTo>
                <a:cubicBezTo>
                  <a:pt x="342" y="15"/>
                  <a:pt x="321" y="16"/>
                  <a:pt x="300" y="17"/>
                </a:cubicBezTo>
                <a:cubicBezTo>
                  <a:pt x="288" y="18"/>
                  <a:pt x="273" y="20"/>
                  <a:pt x="262" y="22"/>
                </a:cubicBezTo>
                <a:cubicBezTo>
                  <a:pt x="249" y="24"/>
                  <a:pt x="236" y="27"/>
                  <a:pt x="224" y="30"/>
                </a:cubicBezTo>
                <a:cubicBezTo>
                  <a:pt x="217" y="32"/>
                  <a:pt x="210" y="34"/>
                  <a:pt x="203" y="36"/>
                </a:cubicBezTo>
                <a:cubicBezTo>
                  <a:pt x="196" y="38"/>
                  <a:pt x="196" y="38"/>
                  <a:pt x="196" y="38"/>
                </a:cubicBezTo>
                <a:cubicBezTo>
                  <a:pt x="190" y="41"/>
                  <a:pt x="183" y="43"/>
                  <a:pt x="176" y="46"/>
                </a:cubicBezTo>
                <a:cubicBezTo>
                  <a:pt x="170" y="49"/>
                  <a:pt x="164" y="51"/>
                  <a:pt x="157" y="54"/>
                </a:cubicBezTo>
                <a:cubicBezTo>
                  <a:pt x="148" y="58"/>
                  <a:pt x="138" y="64"/>
                  <a:pt x="127" y="70"/>
                </a:cubicBezTo>
                <a:cubicBezTo>
                  <a:pt x="117" y="77"/>
                  <a:pt x="106" y="84"/>
                  <a:pt x="96" y="92"/>
                </a:cubicBezTo>
                <a:cubicBezTo>
                  <a:pt x="93" y="94"/>
                  <a:pt x="93" y="94"/>
                  <a:pt x="93" y="94"/>
                </a:cubicBezTo>
                <a:cubicBezTo>
                  <a:pt x="80" y="104"/>
                  <a:pt x="69" y="115"/>
                  <a:pt x="59" y="125"/>
                </a:cubicBezTo>
                <a:cubicBezTo>
                  <a:pt x="47" y="138"/>
                  <a:pt x="34" y="155"/>
                  <a:pt x="26" y="171"/>
                </a:cubicBezTo>
                <a:cubicBezTo>
                  <a:pt x="19" y="186"/>
                  <a:pt x="14" y="201"/>
                  <a:pt x="14" y="217"/>
                </a:cubicBezTo>
                <a:cubicBezTo>
                  <a:pt x="15" y="222"/>
                  <a:pt x="15" y="229"/>
                  <a:pt x="17" y="234"/>
                </a:cubicBezTo>
                <a:cubicBezTo>
                  <a:pt x="19" y="239"/>
                  <a:pt x="22" y="244"/>
                  <a:pt x="26" y="249"/>
                </a:cubicBezTo>
                <a:cubicBezTo>
                  <a:pt x="28" y="252"/>
                  <a:pt x="31" y="255"/>
                  <a:pt x="35" y="258"/>
                </a:cubicBezTo>
                <a:cubicBezTo>
                  <a:pt x="40" y="261"/>
                  <a:pt x="45" y="264"/>
                  <a:pt x="51" y="267"/>
                </a:cubicBezTo>
                <a:cubicBezTo>
                  <a:pt x="61" y="272"/>
                  <a:pt x="72" y="276"/>
                  <a:pt x="84" y="279"/>
                </a:cubicBezTo>
                <a:cubicBezTo>
                  <a:pt x="95" y="282"/>
                  <a:pt x="106" y="284"/>
                  <a:pt x="117" y="285"/>
                </a:cubicBezTo>
                <a:cubicBezTo>
                  <a:pt x="121" y="286"/>
                  <a:pt x="125" y="286"/>
                  <a:pt x="129" y="287"/>
                </a:cubicBezTo>
                <a:cubicBezTo>
                  <a:pt x="131" y="287"/>
                  <a:pt x="134" y="287"/>
                  <a:pt x="137" y="287"/>
                </a:cubicBezTo>
                <a:cubicBezTo>
                  <a:pt x="150" y="289"/>
                  <a:pt x="168" y="290"/>
                  <a:pt x="184" y="291"/>
                </a:cubicBezTo>
                <a:cubicBezTo>
                  <a:pt x="206" y="291"/>
                  <a:pt x="227" y="291"/>
                  <a:pt x="251" y="289"/>
                </a:cubicBezTo>
                <a:cubicBezTo>
                  <a:pt x="268" y="287"/>
                  <a:pt x="287" y="285"/>
                  <a:pt x="306" y="281"/>
                </a:cubicBezTo>
                <a:cubicBezTo>
                  <a:pt x="331" y="276"/>
                  <a:pt x="357" y="268"/>
                  <a:pt x="381" y="259"/>
                </a:cubicBezTo>
                <a:cubicBezTo>
                  <a:pt x="395" y="254"/>
                  <a:pt x="407" y="248"/>
                  <a:pt x="419" y="241"/>
                </a:cubicBezTo>
                <a:cubicBezTo>
                  <a:pt x="430" y="233"/>
                  <a:pt x="440" y="224"/>
                  <a:pt x="449" y="215"/>
                </a:cubicBezTo>
                <a:cubicBezTo>
                  <a:pt x="450" y="214"/>
                  <a:pt x="451" y="213"/>
                  <a:pt x="453" y="211"/>
                </a:cubicBezTo>
                <a:cubicBezTo>
                  <a:pt x="455" y="209"/>
                  <a:pt x="454" y="210"/>
                  <a:pt x="456" y="207"/>
                </a:cubicBezTo>
                <a:cubicBezTo>
                  <a:pt x="458" y="205"/>
                  <a:pt x="457" y="207"/>
                  <a:pt x="458" y="205"/>
                </a:cubicBezTo>
                <a:cubicBezTo>
                  <a:pt x="464" y="198"/>
                  <a:pt x="464" y="198"/>
                  <a:pt x="464" y="198"/>
                </a:cubicBezTo>
                <a:cubicBezTo>
                  <a:pt x="465" y="197"/>
                  <a:pt x="466" y="196"/>
                  <a:pt x="467" y="195"/>
                </a:cubicBezTo>
                <a:cubicBezTo>
                  <a:pt x="467" y="194"/>
                  <a:pt x="468" y="193"/>
                  <a:pt x="469" y="192"/>
                </a:cubicBezTo>
                <a:cubicBezTo>
                  <a:pt x="472" y="187"/>
                  <a:pt x="475" y="182"/>
                  <a:pt x="477" y="177"/>
                </a:cubicBezTo>
                <a:cubicBezTo>
                  <a:pt x="482" y="167"/>
                  <a:pt x="486" y="156"/>
                  <a:pt x="487" y="146"/>
                </a:cubicBezTo>
                <a:cubicBezTo>
                  <a:pt x="487" y="143"/>
                  <a:pt x="487" y="146"/>
                  <a:pt x="488" y="144"/>
                </a:cubicBezTo>
                <a:cubicBezTo>
                  <a:pt x="488" y="142"/>
                  <a:pt x="488" y="141"/>
                  <a:pt x="487" y="139"/>
                </a:cubicBezTo>
                <a:cubicBezTo>
                  <a:pt x="487" y="137"/>
                  <a:pt x="487" y="136"/>
                  <a:pt x="487" y="134"/>
                </a:cubicBezTo>
                <a:cubicBezTo>
                  <a:pt x="487" y="130"/>
                  <a:pt x="486" y="126"/>
                  <a:pt x="485" y="123"/>
                </a:cubicBezTo>
                <a:cubicBezTo>
                  <a:pt x="483" y="115"/>
                  <a:pt x="480" y="108"/>
                  <a:pt x="475" y="103"/>
                </a:cubicBezTo>
                <a:cubicBezTo>
                  <a:pt x="472" y="98"/>
                  <a:pt x="467" y="94"/>
                  <a:pt x="462" y="91"/>
                </a:cubicBezTo>
                <a:cubicBezTo>
                  <a:pt x="460" y="90"/>
                  <a:pt x="461" y="90"/>
                  <a:pt x="460" y="90"/>
                </a:cubicBezTo>
                <a:cubicBezTo>
                  <a:pt x="458" y="89"/>
                  <a:pt x="459" y="89"/>
                  <a:pt x="458" y="88"/>
                </a:cubicBezTo>
                <a:cubicBezTo>
                  <a:pt x="456" y="87"/>
                  <a:pt x="456" y="87"/>
                  <a:pt x="456" y="87"/>
                </a:cubicBezTo>
                <a:cubicBezTo>
                  <a:pt x="453" y="86"/>
                  <a:pt x="453" y="86"/>
                  <a:pt x="453" y="86"/>
                </a:cubicBezTo>
                <a:cubicBezTo>
                  <a:pt x="439" y="78"/>
                  <a:pt x="424" y="72"/>
                  <a:pt x="409" y="67"/>
                </a:cubicBezTo>
                <a:cubicBezTo>
                  <a:pt x="406" y="66"/>
                  <a:pt x="406" y="66"/>
                  <a:pt x="402" y="64"/>
                </a:cubicBezTo>
                <a:cubicBezTo>
                  <a:pt x="398" y="63"/>
                  <a:pt x="399" y="63"/>
                  <a:pt x="396" y="63"/>
                </a:cubicBezTo>
                <a:cubicBezTo>
                  <a:pt x="395" y="63"/>
                  <a:pt x="392" y="61"/>
                  <a:pt x="391" y="61"/>
                </a:cubicBezTo>
                <a:cubicBezTo>
                  <a:pt x="390" y="61"/>
                  <a:pt x="391" y="61"/>
                  <a:pt x="391" y="61"/>
                </a:cubicBezTo>
                <a:cubicBezTo>
                  <a:pt x="388" y="60"/>
                  <a:pt x="378" y="58"/>
                  <a:pt x="373" y="57"/>
                </a:cubicBezTo>
                <a:cubicBezTo>
                  <a:pt x="366" y="56"/>
                  <a:pt x="358" y="54"/>
                  <a:pt x="350" y="53"/>
                </a:cubicBezTo>
                <a:cubicBezTo>
                  <a:pt x="358" y="54"/>
                  <a:pt x="365" y="55"/>
                  <a:pt x="367" y="55"/>
                </a:cubicBezTo>
                <a:cubicBezTo>
                  <a:pt x="359" y="53"/>
                  <a:pt x="344" y="52"/>
                  <a:pt x="336" y="51"/>
                </a:cubicBezTo>
                <a:cubicBezTo>
                  <a:pt x="318" y="50"/>
                  <a:pt x="294" y="52"/>
                  <a:pt x="273" y="56"/>
                </a:cubicBezTo>
                <a:cubicBezTo>
                  <a:pt x="272" y="56"/>
                  <a:pt x="271" y="56"/>
                  <a:pt x="271" y="56"/>
                </a:cubicBezTo>
                <a:cubicBezTo>
                  <a:pt x="265" y="57"/>
                  <a:pt x="265" y="57"/>
                  <a:pt x="265" y="57"/>
                </a:cubicBezTo>
                <a:cubicBezTo>
                  <a:pt x="264" y="58"/>
                  <a:pt x="264" y="58"/>
                  <a:pt x="264" y="58"/>
                </a:cubicBezTo>
                <a:cubicBezTo>
                  <a:pt x="264" y="58"/>
                  <a:pt x="263" y="58"/>
                  <a:pt x="262" y="58"/>
                </a:cubicBezTo>
                <a:cubicBezTo>
                  <a:pt x="264" y="58"/>
                  <a:pt x="264" y="58"/>
                  <a:pt x="264" y="58"/>
                </a:cubicBezTo>
                <a:cubicBezTo>
                  <a:pt x="265" y="57"/>
                  <a:pt x="265" y="57"/>
                  <a:pt x="265" y="57"/>
                </a:cubicBezTo>
                <a:cubicBezTo>
                  <a:pt x="266" y="57"/>
                  <a:pt x="266" y="57"/>
                  <a:pt x="266" y="57"/>
                </a:cubicBezTo>
                <a:cubicBezTo>
                  <a:pt x="266" y="57"/>
                  <a:pt x="266" y="57"/>
                  <a:pt x="266" y="57"/>
                </a:cubicBezTo>
                <a:cubicBezTo>
                  <a:pt x="267" y="57"/>
                  <a:pt x="267" y="57"/>
                  <a:pt x="267" y="57"/>
                </a:cubicBezTo>
                <a:cubicBezTo>
                  <a:pt x="288" y="53"/>
                  <a:pt x="309" y="50"/>
                  <a:pt x="330" y="51"/>
                </a:cubicBezTo>
                <a:cubicBezTo>
                  <a:pt x="335" y="51"/>
                  <a:pt x="343" y="51"/>
                  <a:pt x="352" y="52"/>
                </a:cubicBezTo>
                <a:cubicBezTo>
                  <a:pt x="362" y="53"/>
                  <a:pt x="371" y="55"/>
                  <a:pt x="378" y="57"/>
                </a:cubicBezTo>
                <a:cubicBezTo>
                  <a:pt x="387" y="58"/>
                  <a:pt x="391" y="59"/>
                  <a:pt x="387" y="58"/>
                </a:cubicBezTo>
                <a:cubicBezTo>
                  <a:pt x="376" y="55"/>
                  <a:pt x="367" y="53"/>
                  <a:pt x="356" y="52"/>
                </a:cubicBezTo>
                <a:cubicBezTo>
                  <a:pt x="354" y="51"/>
                  <a:pt x="352" y="51"/>
                  <a:pt x="355" y="51"/>
                </a:cubicBezTo>
                <a:cubicBezTo>
                  <a:pt x="377" y="53"/>
                  <a:pt x="401" y="60"/>
                  <a:pt x="418" y="66"/>
                </a:cubicBezTo>
                <a:cubicBezTo>
                  <a:pt x="428" y="70"/>
                  <a:pt x="428" y="70"/>
                  <a:pt x="428" y="70"/>
                </a:cubicBezTo>
                <a:cubicBezTo>
                  <a:pt x="430" y="70"/>
                  <a:pt x="431" y="71"/>
                  <a:pt x="432" y="71"/>
                </a:cubicBezTo>
                <a:cubicBezTo>
                  <a:pt x="432" y="71"/>
                  <a:pt x="430" y="70"/>
                  <a:pt x="430" y="70"/>
                </a:cubicBezTo>
                <a:cubicBezTo>
                  <a:pt x="411" y="62"/>
                  <a:pt x="395" y="56"/>
                  <a:pt x="374" y="52"/>
                </a:cubicBezTo>
                <a:cubicBezTo>
                  <a:pt x="371" y="51"/>
                  <a:pt x="368" y="51"/>
                  <a:pt x="365" y="50"/>
                </a:cubicBezTo>
                <a:cubicBezTo>
                  <a:pt x="358" y="49"/>
                  <a:pt x="347" y="48"/>
                  <a:pt x="338" y="47"/>
                </a:cubicBezTo>
                <a:cubicBezTo>
                  <a:pt x="336" y="47"/>
                  <a:pt x="337" y="47"/>
                  <a:pt x="336" y="47"/>
                </a:cubicBezTo>
                <a:cubicBezTo>
                  <a:pt x="315" y="46"/>
                  <a:pt x="296" y="48"/>
                  <a:pt x="277" y="51"/>
                </a:cubicBezTo>
                <a:cubicBezTo>
                  <a:pt x="293" y="48"/>
                  <a:pt x="310" y="47"/>
                  <a:pt x="325" y="47"/>
                </a:cubicBezTo>
                <a:cubicBezTo>
                  <a:pt x="327" y="47"/>
                  <a:pt x="328" y="46"/>
                  <a:pt x="330" y="46"/>
                </a:cubicBezTo>
                <a:cubicBezTo>
                  <a:pt x="343" y="47"/>
                  <a:pt x="363" y="49"/>
                  <a:pt x="379" y="52"/>
                </a:cubicBezTo>
                <a:cubicBezTo>
                  <a:pt x="381" y="52"/>
                  <a:pt x="382" y="52"/>
                  <a:pt x="375" y="51"/>
                </a:cubicBezTo>
                <a:cubicBezTo>
                  <a:pt x="377" y="51"/>
                  <a:pt x="378" y="51"/>
                  <a:pt x="381" y="52"/>
                </a:cubicBezTo>
                <a:cubicBezTo>
                  <a:pt x="381" y="52"/>
                  <a:pt x="380" y="52"/>
                  <a:pt x="379" y="52"/>
                </a:cubicBezTo>
                <a:cubicBezTo>
                  <a:pt x="388" y="53"/>
                  <a:pt x="389" y="54"/>
                  <a:pt x="398" y="56"/>
                </a:cubicBezTo>
                <a:cubicBezTo>
                  <a:pt x="399" y="56"/>
                  <a:pt x="400" y="56"/>
                  <a:pt x="399" y="56"/>
                </a:cubicBezTo>
                <a:cubicBezTo>
                  <a:pt x="392" y="54"/>
                  <a:pt x="385" y="52"/>
                  <a:pt x="379" y="51"/>
                </a:cubicBezTo>
                <a:cubicBezTo>
                  <a:pt x="375" y="50"/>
                  <a:pt x="372" y="50"/>
                  <a:pt x="369" y="49"/>
                </a:cubicBezTo>
                <a:cubicBezTo>
                  <a:pt x="367" y="49"/>
                  <a:pt x="367" y="49"/>
                  <a:pt x="365" y="48"/>
                </a:cubicBezTo>
                <a:cubicBezTo>
                  <a:pt x="363" y="48"/>
                  <a:pt x="360" y="48"/>
                  <a:pt x="358" y="48"/>
                </a:cubicBezTo>
                <a:cubicBezTo>
                  <a:pt x="353" y="47"/>
                  <a:pt x="353" y="47"/>
                  <a:pt x="353" y="47"/>
                </a:cubicBezTo>
                <a:cubicBezTo>
                  <a:pt x="345" y="46"/>
                  <a:pt x="336" y="46"/>
                  <a:pt x="327" y="45"/>
                </a:cubicBezTo>
                <a:cubicBezTo>
                  <a:pt x="321" y="45"/>
                  <a:pt x="314" y="45"/>
                  <a:pt x="307" y="46"/>
                </a:cubicBezTo>
                <a:cubicBezTo>
                  <a:pt x="310" y="45"/>
                  <a:pt x="315" y="45"/>
                  <a:pt x="320" y="45"/>
                </a:cubicBezTo>
                <a:cubicBezTo>
                  <a:pt x="337" y="45"/>
                  <a:pt x="357" y="46"/>
                  <a:pt x="371" y="49"/>
                </a:cubicBezTo>
                <a:cubicBezTo>
                  <a:pt x="372" y="49"/>
                  <a:pt x="369" y="48"/>
                  <a:pt x="368" y="48"/>
                </a:cubicBezTo>
                <a:cubicBezTo>
                  <a:pt x="363" y="47"/>
                  <a:pt x="360" y="47"/>
                  <a:pt x="356" y="46"/>
                </a:cubicBezTo>
                <a:cubicBezTo>
                  <a:pt x="354" y="46"/>
                  <a:pt x="357" y="46"/>
                  <a:pt x="355" y="46"/>
                </a:cubicBezTo>
                <a:cubicBezTo>
                  <a:pt x="345" y="45"/>
                  <a:pt x="335" y="45"/>
                  <a:pt x="323" y="45"/>
                </a:cubicBezTo>
                <a:cubicBezTo>
                  <a:pt x="322" y="44"/>
                  <a:pt x="319" y="44"/>
                  <a:pt x="321" y="44"/>
                </a:cubicBezTo>
                <a:cubicBezTo>
                  <a:pt x="319" y="44"/>
                  <a:pt x="319" y="44"/>
                  <a:pt x="317" y="44"/>
                </a:cubicBezTo>
                <a:cubicBezTo>
                  <a:pt x="314" y="44"/>
                  <a:pt x="318" y="44"/>
                  <a:pt x="317" y="44"/>
                </a:cubicBezTo>
                <a:cubicBezTo>
                  <a:pt x="314" y="44"/>
                  <a:pt x="310" y="45"/>
                  <a:pt x="308" y="45"/>
                </a:cubicBezTo>
                <a:cubicBezTo>
                  <a:pt x="294" y="46"/>
                  <a:pt x="282" y="47"/>
                  <a:pt x="266" y="50"/>
                </a:cubicBezTo>
                <a:cubicBezTo>
                  <a:pt x="276" y="48"/>
                  <a:pt x="290" y="46"/>
                  <a:pt x="305" y="45"/>
                </a:cubicBezTo>
                <a:cubicBezTo>
                  <a:pt x="308" y="44"/>
                  <a:pt x="304" y="45"/>
                  <a:pt x="307" y="44"/>
                </a:cubicBezTo>
                <a:cubicBezTo>
                  <a:pt x="311" y="44"/>
                  <a:pt x="314" y="44"/>
                  <a:pt x="318" y="44"/>
                </a:cubicBezTo>
                <a:cubicBezTo>
                  <a:pt x="328" y="44"/>
                  <a:pt x="328" y="44"/>
                  <a:pt x="328" y="44"/>
                </a:cubicBezTo>
                <a:cubicBezTo>
                  <a:pt x="333" y="44"/>
                  <a:pt x="338" y="44"/>
                  <a:pt x="343" y="44"/>
                </a:cubicBezTo>
                <a:cubicBezTo>
                  <a:pt x="348" y="45"/>
                  <a:pt x="351" y="45"/>
                  <a:pt x="356" y="45"/>
                </a:cubicBezTo>
                <a:cubicBezTo>
                  <a:pt x="358" y="46"/>
                  <a:pt x="358" y="45"/>
                  <a:pt x="361" y="46"/>
                </a:cubicBezTo>
                <a:cubicBezTo>
                  <a:pt x="362" y="46"/>
                  <a:pt x="357" y="45"/>
                  <a:pt x="360" y="45"/>
                </a:cubicBezTo>
                <a:cubicBezTo>
                  <a:pt x="363" y="46"/>
                  <a:pt x="360" y="45"/>
                  <a:pt x="362" y="46"/>
                </a:cubicBezTo>
                <a:cubicBezTo>
                  <a:pt x="365" y="46"/>
                  <a:pt x="366" y="46"/>
                  <a:pt x="368" y="46"/>
                </a:cubicBezTo>
                <a:cubicBezTo>
                  <a:pt x="375" y="48"/>
                  <a:pt x="382" y="49"/>
                  <a:pt x="389" y="51"/>
                </a:cubicBezTo>
                <a:cubicBezTo>
                  <a:pt x="391" y="51"/>
                  <a:pt x="386" y="50"/>
                  <a:pt x="388" y="50"/>
                </a:cubicBezTo>
                <a:cubicBezTo>
                  <a:pt x="391" y="51"/>
                  <a:pt x="401" y="54"/>
                  <a:pt x="403" y="54"/>
                </a:cubicBezTo>
                <a:cubicBezTo>
                  <a:pt x="411" y="57"/>
                  <a:pt x="415" y="58"/>
                  <a:pt x="424" y="61"/>
                </a:cubicBezTo>
                <a:cubicBezTo>
                  <a:pt x="427" y="63"/>
                  <a:pt x="424" y="61"/>
                  <a:pt x="426" y="62"/>
                </a:cubicBezTo>
                <a:cubicBezTo>
                  <a:pt x="431" y="64"/>
                  <a:pt x="434" y="65"/>
                  <a:pt x="440" y="68"/>
                </a:cubicBezTo>
                <a:cubicBezTo>
                  <a:pt x="444" y="69"/>
                  <a:pt x="450" y="72"/>
                  <a:pt x="455" y="75"/>
                </a:cubicBezTo>
                <a:cubicBezTo>
                  <a:pt x="455" y="74"/>
                  <a:pt x="452" y="73"/>
                  <a:pt x="449" y="71"/>
                </a:cubicBezTo>
                <a:cubicBezTo>
                  <a:pt x="451" y="72"/>
                  <a:pt x="456" y="75"/>
                  <a:pt x="458" y="76"/>
                </a:cubicBezTo>
                <a:cubicBezTo>
                  <a:pt x="466" y="80"/>
                  <a:pt x="473" y="84"/>
                  <a:pt x="480" y="91"/>
                </a:cubicBezTo>
                <a:cubicBezTo>
                  <a:pt x="486" y="97"/>
                  <a:pt x="492" y="105"/>
                  <a:pt x="495" y="116"/>
                </a:cubicBezTo>
                <a:cubicBezTo>
                  <a:pt x="496" y="119"/>
                  <a:pt x="497" y="120"/>
                  <a:pt x="498" y="123"/>
                </a:cubicBezTo>
                <a:cubicBezTo>
                  <a:pt x="498" y="124"/>
                  <a:pt x="498" y="124"/>
                  <a:pt x="498" y="123"/>
                </a:cubicBezTo>
                <a:cubicBezTo>
                  <a:pt x="498" y="126"/>
                  <a:pt x="499" y="130"/>
                  <a:pt x="499" y="134"/>
                </a:cubicBezTo>
                <a:cubicBezTo>
                  <a:pt x="500" y="136"/>
                  <a:pt x="500" y="139"/>
                  <a:pt x="500" y="141"/>
                </a:cubicBezTo>
                <a:cubicBezTo>
                  <a:pt x="500" y="143"/>
                  <a:pt x="500" y="146"/>
                  <a:pt x="500" y="148"/>
                </a:cubicBezTo>
                <a:close/>
                <a:moveTo>
                  <a:pt x="385" y="50"/>
                </a:moveTo>
                <a:cubicBezTo>
                  <a:pt x="380" y="49"/>
                  <a:pt x="378" y="49"/>
                  <a:pt x="371" y="47"/>
                </a:cubicBezTo>
                <a:cubicBezTo>
                  <a:pt x="369" y="47"/>
                  <a:pt x="367" y="47"/>
                  <a:pt x="364" y="46"/>
                </a:cubicBezTo>
                <a:cubicBezTo>
                  <a:pt x="363" y="47"/>
                  <a:pt x="354" y="45"/>
                  <a:pt x="354" y="46"/>
                </a:cubicBezTo>
                <a:cubicBezTo>
                  <a:pt x="359" y="46"/>
                  <a:pt x="362" y="47"/>
                  <a:pt x="365" y="47"/>
                </a:cubicBezTo>
                <a:cubicBezTo>
                  <a:pt x="367" y="47"/>
                  <a:pt x="364" y="47"/>
                  <a:pt x="366" y="47"/>
                </a:cubicBezTo>
                <a:cubicBezTo>
                  <a:pt x="370" y="48"/>
                  <a:pt x="380" y="49"/>
                  <a:pt x="386" y="51"/>
                </a:cubicBezTo>
                <a:cubicBezTo>
                  <a:pt x="386" y="51"/>
                  <a:pt x="384" y="50"/>
                  <a:pt x="385" y="50"/>
                </a:cubicBezTo>
                <a:close/>
                <a:moveTo>
                  <a:pt x="387" y="51"/>
                </a:moveTo>
                <a:cubicBezTo>
                  <a:pt x="387" y="51"/>
                  <a:pt x="388" y="51"/>
                  <a:pt x="388" y="51"/>
                </a:cubicBezTo>
                <a:cubicBezTo>
                  <a:pt x="392" y="52"/>
                  <a:pt x="389" y="51"/>
                  <a:pt x="387" y="51"/>
                </a:cubicBezTo>
                <a:close/>
                <a:moveTo>
                  <a:pt x="391" y="61"/>
                </a:moveTo>
                <a:cubicBezTo>
                  <a:pt x="391" y="61"/>
                  <a:pt x="391" y="61"/>
                  <a:pt x="391" y="61"/>
                </a:cubicBezTo>
                <a:cubicBezTo>
                  <a:pt x="391" y="61"/>
                  <a:pt x="391" y="61"/>
                  <a:pt x="391" y="61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4C16941-A3E2-3897-4F2E-84B9A6A04930}"/>
              </a:ext>
            </a:extLst>
          </p:cNvPr>
          <p:cNvSpPr>
            <a:spLocks noGrp="1"/>
          </p:cNvSpPr>
          <p:nvPr/>
        </p:nvSpPr>
        <p:spPr>
          <a:xfrm>
            <a:off x="4609735" y="1838716"/>
            <a:ext cx="247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System File Table</a:t>
            </a:r>
          </a:p>
        </p:txBody>
      </p:sp>
    </p:spTree>
    <p:extLst>
      <p:ext uri="{BB962C8B-B14F-4D97-AF65-F5344CB8AC3E}">
        <p14:creationId xmlns:p14="http://schemas.microsoft.com/office/powerpoint/2010/main" val="4193521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8 Rectángulo redondeado">
            <a:extLst>
              <a:ext uri="{FF2B5EF4-FFF2-40B4-BE49-F238E27FC236}">
                <a16:creationId xmlns:a16="http://schemas.microsoft.com/office/drawing/2014/main" id="{E33B0AC6-FE07-08E2-57AC-70933E8D2552}"/>
              </a:ext>
            </a:extLst>
          </p:cNvPr>
          <p:cNvSpPr>
            <a:spLocks noGrp="1"/>
          </p:cNvSpPr>
          <p:nvPr/>
        </p:nvSpPr>
        <p:spPr>
          <a:xfrm>
            <a:off x="9336088" y="2296639"/>
            <a:ext cx="1866900" cy="3633148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4" name="8 CuadroTexto">
            <a:extLst>
              <a:ext uri="{FF2B5EF4-FFF2-40B4-BE49-F238E27FC236}">
                <a16:creationId xmlns:a16="http://schemas.microsoft.com/office/drawing/2014/main" id="{FCDBB7F7-22F2-FE80-13C1-3BCC68A4F40D}"/>
              </a:ext>
            </a:extLst>
          </p:cNvPr>
          <p:cNvSpPr>
            <a:spLocks noGrp="1"/>
          </p:cNvSpPr>
          <p:nvPr/>
        </p:nvSpPr>
        <p:spPr>
          <a:xfrm>
            <a:off x="303579" y="1115625"/>
            <a:ext cx="118382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>
                <a:latin typeface="Consolas"/>
                <a:ea typeface="Consolas"/>
                <a:cs typeface="Consolas"/>
              </a:rPr>
              <a:t>En Linux existen archivos estándar, que ya están abiertos y conectados al teclado y la pantalla.</a:t>
            </a:r>
          </a:p>
        </p:txBody>
      </p:sp>
      <p:graphicFrame>
        <p:nvGraphicFramePr>
          <p:cNvPr id="248" name="12 Tabla"/>
          <p:cNvGraphicFramePr/>
          <p:nvPr/>
        </p:nvGraphicFramePr>
        <p:xfrm>
          <a:off x="297368" y="2790102"/>
          <a:ext cx="6110865" cy="2618176"/>
        </p:xfrm>
        <a:graphic>
          <a:graphicData uri="http://schemas.openxmlformats.org/drawingml/2006/table">
            <a:tbl>
              <a:tblPr/>
              <a:tblGrid>
                <a:gridCol w="163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</a:rPr>
                        <a:t>Nombre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</a:rPr>
                        <a:t>Dispositivo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</a:rPr>
                        <a:t>File Descriptor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STDIN_FILENO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Estándar Input</a:t>
                      </a:r>
                      <a:endParaRPr sz="14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Teclado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STDOUT_FILENO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Estándar Output</a:t>
                      </a:r>
                      <a:endParaRPr sz="14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Pantalla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STDERR_FILENO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Estándar Error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Pantalla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Rectángulo redondeado">
            <a:extLst>
              <a:ext uri="{FF2B5EF4-FFF2-40B4-BE49-F238E27FC236}">
                <a16:creationId xmlns:a16="http://schemas.microsoft.com/office/drawing/2014/main" id="{4CF1C39D-AD12-7914-242E-C8520EB1962D}"/>
              </a:ext>
            </a:extLst>
          </p:cNvPr>
          <p:cNvSpPr>
            <a:spLocks noGrp="1"/>
          </p:cNvSpPr>
          <p:nvPr/>
        </p:nvSpPr>
        <p:spPr>
          <a:xfrm>
            <a:off x="9488488" y="2639539"/>
            <a:ext cx="1524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Teclado</a:t>
            </a:r>
          </a:p>
        </p:txBody>
      </p:sp>
      <p:sp>
        <p:nvSpPr>
          <p:cNvPr id="7" name="10 Rectángulo redondeado">
            <a:extLst>
              <a:ext uri="{FF2B5EF4-FFF2-40B4-BE49-F238E27FC236}">
                <a16:creationId xmlns:a16="http://schemas.microsoft.com/office/drawing/2014/main" id="{E8DA36BD-2D78-BA2D-98E3-A0BC529C6B57}"/>
              </a:ext>
            </a:extLst>
          </p:cNvPr>
          <p:cNvSpPr>
            <a:spLocks noGrp="1"/>
          </p:cNvSpPr>
          <p:nvPr/>
        </p:nvSpPr>
        <p:spPr>
          <a:xfrm>
            <a:off x="9488488" y="4558187"/>
            <a:ext cx="1524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Pantalla</a:t>
            </a:r>
          </a:p>
        </p:txBody>
      </p:sp>
      <p:sp>
        <p:nvSpPr>
          <p:cNvPr id="8" name="13 Rectángulo redondeado">
            <a:extLst>
              <a:ext uri="{FF2B5EF4-FFF2-40B4-BE49-F238E27FC236}">
                <a16:creationId xmlns:a16="http://schemas.microsoft.com/office/drawing/2014/main" id="{06D6F681-CA46-02DC-F0D8-24FD644761C3}"/>
              </a:ext>
            </a:extLst>
          </p:cNvPr>
          <p:cNvSpPr>
            <a:spLocks noGrp="1"/>
          </p:cNvSpPr>
          <p:nvPr/>
        </p:nvSpPr>
        <p:spPr>
          <a:xfrm>
            <a:off x="7202488" y="3567587"/>
            <a:ext cx="15240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Programa</a:t>
            </a:r>
          </a:p>
        </p:txBody>
      </p:sp>
      <p:cxnSp>
        <p:nvCxnSpPr>
          <p:cNvPr id="252" name="38 Conector angular"/>
          <p:cNvCxnSpPr>
            <a:stCxn id="8" idx="0"/>
            <a:endCxn id="6" idx="1"/>
          </p:cNvCxnSpPr>
          <p:nvPr/>
        </p:nvCxnSpPr>
        <p:spPr>
          <a:xfrm rot="5400000" flipH="1" flipV="1">
            <a:off x="8452964" y="2532063"/>
            <a:ext cx="547048" cy="1524000"/>
          </a:xfrm>
          <a:prstGeom prst="bentConnector2">
            <a:avLst/>
          </a:prstGeom>
          <a:ln w="3810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39 CuadroTexto">
            <a:extLst>
              <a:ext uri="{FF2B5EF4-FFF2-40B4-BE49-F238E27FC236}">
                <a16:creationId xmlns:a16="http://schemas.microsoft.com/office/drawing/2014/main" id="{5C9BB1E6-8A7A-FE71-4369-71212AFE6807}"/>
              </a:ext>
            </a:extLst>
          </p:cNvPr>
          <p:cNvSpPr>
            <a:spLocks noGrp="1"/>
          </p:cNvSpPr>
          <p:nvPr/>
        </p:nvSpPr>
        <p:spPr>
          <a:xfrm>
            <a:off x="8345488" y="2683894"/>
            <a:ext cx="1295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/>
              <a:t>0</a:t>
            </a:r>
          </a:p>
        </p:txBody>
      </p:sp>
      <p:cxnSp>
        <p:nvCxnSpPr>
          <p:cNvPr id="254" name="40 Conector angular"/>
          <p:cNvCxnSpPr>
            <a:stCxn id="8" idx="2"/>
            <a:endCxn id="7" idx="1"/>
          </p:cNvCxnSpPr>
          <p:nvPr/>
        </p:nvCxnSpPr>
        <p:spPr>
          <a:xfrm rot="16200000" flipH="1">
            <a:off x="8421688" y="3872387"/>
            <a:ext cx="609600" cy="1524000"/>
          </a:xfrm>
          <a:prstGeom prst="bentConnector2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43 CuadroTexto">
            <a:extLst>
              <a:ext uri="{FF2B5EF4-FFF2-40B4-BE49-F238E27FC236}">
                <a16:creationId xmlns:a16="http://schemas.microsoft.com/office/drawing/2014/main" id="{68811373-A40F-938D-0346-B0930EA5C272}"/>
              </a:ext>
            </a:extLst>
          </p:cNvPr>
          <p:cNvSpPr>
            <a:spLocks noGrp="1"/>
          </p:cNvSpPr>
          <p:nvPr/>
        </p:nvSpPr>
        <p:spPr>
          <a:xfrm>
            <a:off x="8345488" y="5012410"/>
            <a:ext cx="1295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/>
              <a:t>1</a:t>
            </a:r>
          </a:p>
        </p:txBody>
      </p:sp>
      <p:cxnSp>
        <p:nvCxnSpPr>
          <p:cNvPr id="256" name="44 Conector angular"/>
          <p:cNvCxnSpPr>
            <a:stCxn id="8" idx="3"/>
            <a:endCxn id="7" idx="0"/>
          </p:cNvCxnSpPr>
          <p:nvPr/>
        </p:nvCxnSpPr>
        <p:spPr>
          <a:xfrm>
            <a:off x="8726488" y="3948587"/>
            <a:ext cx="1524000" cy="609600"/>
          </a:xfrm>
          <a:prstGeom prst="bentConnector2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47 CuadroTexto">
            <a:extLst>
              <a:ext uri="{FF2B5EF4-FFF2-40B4-BE49-F238E27FC236}">
                <a16:creationId xmlns:a16="http://schemas.microsoft.com/office/drawing/2014/main" id="{02FE4C99-AFBC-D374-1D05-D3AE8DC9DDF6}"/>
              </a:ext>
            </a:extLst>
          </p:cNvPr>
          <p:cNvSpPr>
            <a:spLocks noGrp="1"/>
          </p:cNvSpPr>
          <p:nvPr/>
        </p:nvSpPr>
        <p:spPr>
          <a:xfrm>
            <a:off x="9183688" y="3640810"/>
            <a:ext cx="1295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5" name="49 CuadroTexto">
            <a:extLst>
              <a:ext uri="{FF2B5EF4-FFF2-40B4-BE49-F238E27FC236}">
                <a16:creationId xmlns:a16="http://schemas.microsoft.com/office/drawing/2014/main" id="{4380C920-A04E-6CD8-F17E-27A12FA7C6F5}"/>
              </a:ext>
            </a:extLst>
          </p:cNvPr>
          <p:cNvSpPr>
            <a:spLocks noGrp="1"/>
          </p:cNvSpPr>
          <p:nvPr/>
        </p:nvSpPr>
        <p:spPr>
          <a:xfrm>
            <a:off x="9336088" y="1988857"/>
            <a:ext cx="1866900" cy="30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/>
              <a:t>Dispositivos E/S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864DE4B-3685-602E-C1A3-63CECF605F7C}"/>
              </a:ext>
            </a:extLst>
          </p:cNvPr>
          <p:cNvSpPr>
            <a:spLocks noGrp="1"/>
          </p:cNvSpPr>
          <p:nvPr/>
        </p:nvSpPr>
        <p:spPr>
          <a:xfrm>
            <a:off x="-3461" y="45956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descriptores | predeterminados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39763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7C7EFF-991F-C850-C3B4-98989AD0D0B7}"/>
              </a:ext>
            </a:extLst>
          </p:cNvPr>
          <p:cNvSpPr>
            <a:spLocks noGrp="1"/>
          </p:cNvSpPr>
          <p:nvPr/>
        </p:nvSpPr>
        <p:spPr>
          <a:xfrm>
            <a:off x="31750" y="9605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archivos | open()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5358E23-7513-A7AF-4E5D-ECA416C4571E}"/>
              </a:ext>
            </a:extLst>
          </p:cNvPr>
          <p:cNvSpPr>
            <a:spLocks noGrp="1"/>
          </p:cNvSpPr>
          <p:nvPr/>
        </p:nvSpPr>
        <p:spPr>
          <a:xfrm>
            <a:off x="253818" y="835392"/>
            <a:ext cx="11750948" cy="606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 &lt;sys/types.h&gt;  /* ssize_t y off_t */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 &lt;sys/stat.h&gt;   /* mode_t y permisos */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 &lt;fcntl.h&gt;      /* open y banderas O_* */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br/>
            <a:r>
              <a:rPr sz="280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int open(const char *ruta, int banderas [, mode_t modo]);</a:t>
            </a:r>
          </a:p>
          <a:p>
            <a:pPr algn="l">
              <a:buNone/>
            </a:pPr>
            <a:endParaRPr sz="2000" b="0" i="0" u="none" baseline="0"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Abre un archivo; con O_CREAT también puede crearlo.</a:t>
            </a: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Retorno: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fd &gt;= 0: éxito; se obtiene un descriptor.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-1: error; usar perror o revisar errno.</a:t>
            </a:r>
            <a:endParaRPr sz="2000" b="1" i="0" u="none" baseline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Parámetros: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ruta: puede ser absoluta (comienza con /) o relativa.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banderas: indican cómo se abrirá el archivo.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O_RDONLY: sólo lectura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O_WRONLY: sólo escritura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O_RDWR: lectura y escritura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O_CREAT: crea el archivo si no existe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O_EXCL: con O_CREAT, falla si ya existe</a:t>
            </a:r>
            <a:endParaRPr sz="2000" b="1"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25542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2511" y="14683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archivos</a:t>
            </a:r>
            <a:r>
              <a:rPr sz="4400" b="1" dirty="0">
                <a:latin typeface="Consolas"/>
                <a:ea typeface="Consolas"/>
                <a:cs typeface="Consolas"/>
              </a:rPr>
              <a:t> | open()</a:t>
            </a:r>
            <a:endParaRPr sz="4400" dirty="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10" name="Tabla 4"/>
          <p:cNvGraphicFramePr/>
          <p:nvPr/>
        </p:nvGraphicFramePr>
        <p:xfrm>
          <a:off x="189553" y="1782564"/>
          <a:ext cx="11864454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7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sz="2000" b="1">
                          <a:latin typeface="Consolas"/>
                          <a:ea typeface="Consolas"/>
                          <a:cs typeface="Consolas"/>
                        </a:rPr>
                        <a:t>access mode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2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O_RDONLY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O_WRONLY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O_RDWR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read and write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a 4"/>
          <p:cNvGraphicFramePr/>
          <p:nvPr/>
        </p:nvGraphicFramePr>
        <p:xfrm>
          <a:off x="189553" y="3770991"/>
          <a:ext cx="11864454" cy="268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4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sz="2000" b="1">
                          <a:latin typeface="Consolas"/>
                          <a:ea typeface="Consolas"/>
                          <a:cs typeface="Consolas"/>
                        </a:rPr>
                        <a:t>additional flags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20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O_APPEND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the file offset is moved to the end of the file before a write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O_TRUNC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truncates the length of a regular file opened for writing to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O_CREAT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create the file if it does exist. You must use a third argument to 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O_EXCL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used with O_CREAT, return an error if file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115"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O_NOCTTY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onsolas"/>
                          <a:ea typeface="Consolas"/>
                          <a:cs typeface="Consolas"/>
                        </a:rPr>
                        <a:t>prevents an opened device from becoming a controlling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8488807-9874-C3BF-4CC5-3B09A0443FD2}"/>
              </a:ext>
            </a:extLst>
          </p:cNvPr>
          <p:cNvSpPr>
            <a:spLocks noGrp="1"/>
          </p:cNvSpPr>
          <p:nvPr/>
        </p:nvSpPr>
        <p:spPr>
          <a:xfrm>
            <a:off x="189552" y="1104730"/>
            <a:ext cx="108762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00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200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00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* </a:t>
            </a:r>
            <a:r>
              <a:rPr sz="20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path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200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flags [, </a:t>
            </a:r>
            <a:r>
              <a:rPr sz="200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20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mode ]);</a:t>
            </a:r>
          </a:p>
        </p:txBody>
      </p:sp>
    </p:spTree>
    <p:extLst>
      <p:ext uri="{BB962C8B-B14F-4D97-AF65-F5344CB8AC3E}">
        <p14:creationId xmlns:p14="http://schemas.microsoft.com/office/powerpoint/2010/main" val="1875691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23977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archivos</a:t>
            </a:r>
            <a:r>
              <a:rPr sz="4400" b="1" dirty="0">
                <a:latin typeface="Consolas"/>
                <a:ea typeface="Consolas"/>
                <a:cs typeface="Consolas"/>
              </a:rPr>
              <a:t> | </a:t>
            </a:r>
            <a:r>
              <a:rPr sz="4400" b="1" dirty="0" err="1">
                <a:latin typeface="Consolas"/>
                <a:ea typeface="Consolas"/>
                <a:cs typeface="Consolas"/>
              </a:rPr>
              <a:t>permisos</a:t>
            </a:r>
            <a:r>
              <a:rPr sz="4400" b="1" dirty="0">
                <a:latin typeface="Consolas"/>
                <a:ea typeface="Consolas"/>
                <a:cs typeface="Consolas"/>
              </a:rPr>
              <a:t> (</a:t>
            </a:r>
            <a:r>
              <a:rPr sz="4400" b="1" dirty="0" err="1">
                <a:latin typeface="Consolas"/>
                <a:ea typeface="Consolas"/>
                <a:cs typeface="Consolas"/>
              </a:rPr>
              <a:t>máscara</a:t>
            </a:r>
            <a:r>
              <a:rPr sz="4400" b="1" dirty="0">
                <a:latin typeface="Consolas"/>
                <a:ea typeface="Consolas"/>
                <a:cs typeface="Consolas"/>
              </a:rPr>
              <a:t>)</a:t>
            </a:r>
            <a:endParaRPr sz="4400" dirty="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5" name="Tabla 5"/>
          <p:cNvGraphicFramePr/>
          <p:nvPr/>
        </p:nvGraphicFramePr>
        <p:xfrm>
          <a:off x="2032000" y="2322596"/>
          <a:ext cx="8752205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7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type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r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w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r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w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r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w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group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others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851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8789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archivos</a:t>
            </a:r>
            <a:r>
              <a:rPr sz="4400" b="1" dirty="0">
                <a:latin typeface="Consolas"/>
                <a:ea typeface="Consolas"/>
                <a:cs typeface="Consolas"/>
              </a:rPr>
              <a:t> | </a:t>
            </a:r>
            <a:r>
              <a:rPr sz="4400" b="1" dirty="0" err="1">
                <a:latin typeface="Consolas"/>
                <a:ea typeface="Consolas"/>
                <a:cs typeface="Consolas"/>
              </a:rPr>
              <a:t>permisos</a:t>
            </a:r>
            <a:r>
              <a:rPr sz="4400" b="1" dirty="0">
                <a:latin typeface="Consolas"/>
                <a:ea typeface="Consolas"/>
                <a:cs typeface="Consolas"/>
              </a:rPr>
              <a:t> (</a:t>
            </a:r>
            <a:r>
              <a:rPr sz="4400" b="1" dirty="0" err="1">
                <a:latin typeface="Consolas"/>
                <a:ea typeface="Consolas"/>
                <a:cs typeface="Consolas"/>
              </a:rPr>
              <a:t>máscara</a:t>
            </a:r>
            <a:r>
              <a:rPr sz="4400" b="1" dirty="0">
                <a:latin typeface="Consolas"/>
                <a:ea typeface="Consolas"/>
                <a:cs typeface="Consolas"/>
              </a:rPr>
              <a:t>)</a:t>
            </a:r>
            <a:endParaRPr sz="4400" dirty="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5" name="Tabla 4"/>
          <p:cNvGraphicFramePr/>
          <p:nvPr/>
        </p:nvGraphicFramePr>
        <p:xfrm>
          <a:off x="1041991" y="1463583"/>
          <a:ext cx="9420447" cy="495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0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octal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binario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denegado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--x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800"/>
                        <a:t>ejecución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-w-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escritura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-wx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800"/>
                        <a:t>escritura, ejecución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r--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lectura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r-x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800"/>
                        <a:t>lectura, ejecución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rw-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800"/>
                        <a:t>lectura, escritura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0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/>
                        <a:t>rwx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800"/>
                        <a:t>lectura, escritura, ejecución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062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30023D-6F91-2E7B-6831-C927DF0BE631}"/>
              </a:ext>
            </a:extLst>
          </p:cNvPr>
          <p:cNvSpPr>
            <a:spLocks noGrp="1"/>
          </p:cNvSpPr>
          <p:nvPr/>
        </p:nvSpPr>
        <p:spPr>
          <a:xfrm>
            <a:off x="31750" y="15678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archivos | permisos (máscara)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11" name="Tabla 5"/>
          <p:cNvGraphicFramePr/>
          <p:nvPr/>
        </p:nvGraphicFramePr>
        <p:xfrm>
          <a:off x="1622358" y="1471991"/>
          <a:ext cx="8752205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7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type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r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w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r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w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r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w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group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others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CBF33E2-F101-7879-538A-3A2734A7099D}"/>
              </a:ext>
            </a:extLst>
          </p:cNvPr>
          <p:cNvSpPr>
            <a:spLocks noGrp="1"/>
          </p:cNvSpPr>
          <p:nvPr/>
        </p:nvSpPr>
        <p:spPr>
          <a:xfrm>
            <a:off x="3383819" y="5300948"/>
            <a:ext cx="72859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644</a:t>
            </a:r>
            <a:r>
              <a:rPr sz="1800">
                <a:latin typeface="Consolas"/>
                <a:ea typeface="Consolas"/>
                <a:cs typeface="Consolas"/>
              </a:rPr>
              <a:t> 	owner,	permisos de lectura y escritura</a:t>
            </a:r>
          </a:p>
          <a:p>
            <a:r>
              <a:rPr>
                <a:latin typeface="Consolas"/>
                <a:ea typeface="Consolas"/>
                <a:cs typeface="Consolas"/>
              </a:rPr>
              <a:t>		groups,	permiso de lectura</a:t>
            </a:r>
          </a:p>
          <a:p>
            <a:r>
              <a:rPr>
                <a:latin typeface="Consolas"/>
                <a:ea typeface="Consolas"/>
                <a:cs typeface="Consolas"/>
              </a:rPr>
              <a:t>		others,	permiso de lectura </a:t>
            </a:r>
            <a:endParaRPr sz="1800">
              <a:latin typeface="Consolas"/>
              <a:ea typeface="Consolas"/>
              <a:cs typeface="Consolas"/>
            </a:endParaRPr>
          </a:p>
        </p:txBody>
      </p:sp>
      <p:graphicFrame>
        <p:nvGraphicFramePr>
          <p:cNvPr id="13" name="Tabla 5"/>
          <p:cNvGraphicFramePr/>
          <p:nvPr/>
        </p:nvGraphicFramePr>
        <p:xfrm>
          <a:off x="1622358" y="3132234"/>
          <a:ext cx="8752205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7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type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group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latin typeface="Consolas"/>
                          <a:ea typeface="Consolas"/>
                          <a:cs typeface="Consolas"/>
                        </a:rPr>
                        <a:t>others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36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solidFill>
                            <a:srgbClr val="00B0F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solidFill>
                            <a:srgbClr val="00B0F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600">
                          <a:solidFill>
                            <a:srgbClr val="00B0F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BC483DF-C249-4381-F0F6-3FA6AF7475D6}"/>
              </a:ext>
            </a:extLst>
          </p:cNvPr>
          <p:cNvSpPr>
            <a:spLocks noGrp="1"/>
          </p:cNvSpPr>
          <p:nvPr/>
        </p:nvSpPr>
        <p:spPr>
          <a:xfrm>
            <a:off x="3245306" y="5188688"/>
            <a:ext cx="6132610" cy="1142385"/>
          </a:xfrm>
          <a:custGeom>
            <a:avLst/>
            <a:gdLst>
              <a:gd name="csX0" fmla="*/ 0 w 6132610"/>
              <a:gd name="csY0" fmla="*/ 190401 h 1142385"/>
              <a:gd name="csX1" fmla="*/ 190401 w 6132610"/>
              <a:gd name="csY1" fmla="*/ 0 h 1142385"/>
              <a:gd name="csX2" fmla="*/ 944527 w 6132610"/>
              <a:gd name="csY2" fmla="*/ 0 h 1142385"/>
              <a:gd name="csX3" fmla="*/ 1583617 w 6132610"/>
              <a:gd name="csY3" fmla="*/ 0 h 1142385"/>
              <a:gd name="csX4" fmla="*/ 2337743 w 6132610"/>
              <a:gd name="csY4" fmla="*/ 0 h 1142385"/>
              <a:gd name="csX5" fmla="*/ 3034351 w 6132610"/>
              <a:gd name="csY5" fmla="*/ 0 h 1142385"/>
              <a:gd name="csX6" fmla="*/ 3673440 w 6132610"/>
              <a:gd name="csY6" fmla="*/ 0 h 1142385"/>
              <a:gd name="csX7" fmla="*/ 4139976 w 6132610"/>
              <a:gd name="csY7" fmla="*/ 0 h 1142385"/>
              <a:gd name="csX8" fmla="*/ 4894102 w 6132610"/>
              <a:gd name="csY8" fmla="*/ 0 h 1142385"/>
              <a:gd name="csX9" fmla="*/ 5942209 w 6132610"/>
              <a:gd name="csY9" fmla="*/ 0 h 1142385"/>
              <a:gd name="csX10" fmla="*/ 6132610 w 6132610"/>
              <a:gd name="csY10" fmla="*/ 190401 h 1142385"/>
              <a:gd name="csX11" fmla="*/ 6132610 w 6132610"/>
              <a:gd name="csY11" fmla="*/ 548345 h 1142385"/>
              <a:gd name="csX12" fmla="*/ 6132610 w 6132610"/>
              <a:gd name="csY12" fmla="*/ 951984 h 1142385"/>
              <a:gd name="csX13" fmla="*/ 5942209 w 6132610"/>
              <a:gd name="csY13" fmla="*/ 1142385 h 1142385"/>
              <a:gd name="csX14" fmla="*/ 5188083 w 6132610"/>
              <a:gd name="csY14" fmla="*/ 1142385 h 1142385"/>
              <a:gd name="csX15" fmla="*/ 4721548 w 6132610"/>
              <a:gd name="csY15" fmla="*/ 1142385 h 1142385"/>
              <a:gd name="csX16" fmla="*/ 3967422 w 6132610"/>
              <a:gd name="csY16" fmla="*/ 1142385 h 1142385"/>
              <a:gd name="csX17" fmla="*/ 3500886 w 6132610"/>
              <a:gd name="csY17" fmla="*/ 1142385 h 1142385"/>
              <a:gd name="csX18" fmla="*/ 3034351 w 6132610"/>
              <a:gd name="csY18" fmla="*/ 1142385 h 1142385"/>
              <a:gd name="csX19" fmla="*/ 2337743 w 6132610"/>
              <a:gd name="csY19" fmla="*/ 1142385 h 1142385"/>
              <a:gd name="csX20" fmla="*/ 1641135 w 6132610"/>
              <a:gd name="csY20" fmla="*/ 1142385 h 1142385"/>
              <a:gd name="csX21" fmla="*/ 1002045 w 6132610"/>
              <a:gd name="csY21" fmla="*/ 1142385 h 1142385"/>
              <a:gd name="csX22" fmla="*/ 190401 w 6132610"/>
              <a:gd name="csY22" fmla="*/ 1142385 h 1142385"/>
              <a:gd name="csX23" fmla="*/ 0 w 6132610"/>
              <a:gd name="csY23" fmla="*/ 951984 h 1142385"/>
              <a:gd name="csX24" fmla="*/ 0 w 6132610"/>
              <a:gd name="csY24" fmla="*/ 586424 h 1142385"/>
              <a:gd name="csX25" fmla="*/ 0 w 6132610"/>
              <a:gd name="csY25" fmla="*/ 190401 h 1142385"/>
            </a:gdLst>
            <a:ahLst/>
            <a:cxnLst/>
            <a:rect l="l" t="t" r="r" b="b"/>
            <a:pathLst>
              <a:path w="6132610" h="1142385">
                <a:moveTo>
                  <a:pt x="0" y="190401"/>
                </a:moveTo>
                <a:cubicBezTo>
                  <a:pt x="-3581" y="109461"/>
                  <a:pt x="87500" y="3136"/>
                  <a:pt x="190401" y="0"/>
                </a:cubicBezTo>
                <a:cubicBezTo>
                  <a:pt x="494412" y="18120"/>
                  <a:pt x="762427" y="-8323"/>
                  <a:pt x="944527" y="0"/>
                </a:cubicBezTo>
                <a:cubicBezTo>
                  <a:pt x="1126627" y="8323"/>
                  <a:pt x="1408615" y="-21230"/>
                  <a:pt x="1583617" y="0"/>
                </a:cubicBezTo>
                <a:cubicBezTo>
                  <a:pt x="1758619" y="21230"/>
                  <a:pt x="2136055" y="11517"/>
                  <a:pt x="2337743" y="0"/>
                </a:cubicBezTo>
                <a:cubicBezTo>
                  <a:pt x="2539431" y="-11517"/>
                  <a:pt x="2703029" y="13186"/>
                  <a:pt x="3034351" y="0"/>
                </a:cubicBezTo>
                <a:cubicBezTo>
                  <a:pt x="3365673" y="-13186"/>
                  <a:pt x="3436697" y="11608"/>
                  <a:pt x="3673440" y="0"/>
                </a:cubicBezTo>
                <a:cubicBezTo>
                  <a:pt x="3910183" y="-11608"/>
                  <a:pt x="3958742" y="6528"/>
                  <a:pt x="4139976" y="0"/>
                </a:cubicBezTo>
                <a:cubicBezTo>
                  <a:pt x="4321210" y="-6528"/>
                  <a:pt x="4551923" y="-5788"/>
                  <a:pt x="4894102" y="0"/>
                </a:cubicBezTo>
                <a:cubicBezTo>
                  <a:pt x="5236281" y="5788"/>
                  <a:pt x="5435214" y="-9435"/>
                  <a:pt x="5942209" y="0"/>
                </a:cubicBezTo>
                <a:cubicBezTo>
                  <a:pt x="6030850" y="-6244"/>
                  <a:pt x="6129093" y="80282"/>
                  <a:pt x="6132610" y="190401"/>
                </a:cubicBezTo>
                <a:cubicBezTo>
                  <a:pt x="6147048" y="328872"/>
                  <a:pt x="6127445" y="369534"/>
                  <a:pt x="6132610" y="548345"/>
                </a:cubicBezTo>
                <a:cubicBezTo>
                  <a:pt x="6137775" y="727156"/>
                  <a:pt x="6117480" y="774923"/>
                  <a:pt x="6132610" y="951984"/>
                </a:cubicBezTo>
                <a:cubicBezTo>
                  <a:pt x="6132026" y="1080653"/>
                  <a:pt x="6044501" y="1153219"/>
                  <a:pt x="5942209" y="1142385"/>
                </a:cubicBezTo>
                <a:cubicBezTo>
                  <a:pt x="5751471" y="1134644"/>
                  <a:pt x="5410914" y="1135705"/>
                  <a:pt x="5188083" y="1142385"/>
                </a:cubicBezTo>
                <a:cubicBezTo>
                  <a:pt x="4965252" y="1149065"/>
                  <a:pt x="4848998" y="1152410"/>
                  <a:pt x="4721548" y="1142385"/>
                </a:cubicBezTo>
                <a:cubicBezTo>
                  <a:pt x="4594098" y="1132360"/>
                  <a:pt x="4316555" y="1131800"/>
                  <a:pt x="3967422" y="1142385"/>
                </a:cubicBezTo>
                <a:cubicBezTo>
                  <a:pt x="3618289" y="1152970"/>
                  <a:pt x="3639383" y="1133544"/>
                  <a:pt x="3500886" y="1142385"/>
                </a:cubicBezTo>
                <a:cubicBezTo>
                  <a:pt x="3362389" y="1151226"/>
                  <a:pt x="3155739" y="1130483"/>
                  <a:pt x="3034351" y="1142385"/>
                </a:cubicBezTo>
                <a:cubicBezTo>
                  <a:pt x="2912964" y="1154287"/>
                  <a:pt x="2659296" y="1150457"/>
                  <a:pt x="2337743" y="1142385"/>
                </a:cubicBezTo>
                <a:cubicBezTo>
                  <a:pt x="2016190" y="1134313"/>
                  <a:pt x="1919024" y="1154257"/>
                  <a:pt x="1641135" y="1142385"/>
                </a:cubicBezTo>
                <a:cubicBezTo>
                  <a:pt x="1363246" y="1130513"/>
                  <a:pt x="1295715" y="1135845"/>
                  <a:pt x="1002045" y="1142385"/>
                </a:cubicBezTo>
                <a:cubicBezTo>
                  <a:pt x="708375" y="1148926"/>
                  <a:pt x="521979" y="1180390"/>
                  <a:pt x="190401" y="1142385"/>
                </a:cubicBezTo>
                <a:cubicBezTo>
                  <a:pt x="64279" y="1157916"/>
                  <a:pt x="-20908" y="1072136"/>
                  <a:pt x="0" y="951984"/>
                </a:cubicBezTo>
                <a:cubicBezTo>
                  <a:pt x="11624" y="824707"/>
                  <a:pt x="12985" y="733907"/>
                  <a:pt x="0" y="586424"/>
                </a:cubicBezTo>
                <a:cubicBezTo>
                  <a:pt x="-12985" y="438941"/>
                  <a:pt x="3983" y="279713"/>
                  <a:pt x="0" y="190401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522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 1"/>
          <p:cNvGraphicFramePr/>
          <p:nvPr/>
        </p:nvGraphicFramePr>
        <p:xfrm>
          <a:off x="2497323" y="2931319"/>
          <a:ext cx="7170331" cy="30118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1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9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Permission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Group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Others</a:t>
                      </a:r>
                      <a:endParaRPr sz="20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9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Read Permission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S_IRUSR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S_IRGRP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S_IROTH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9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Write Permission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S_IWUSR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S_IWGRP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S_IWOTH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9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Execute Permission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S_IXUSR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S_IXGRP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</a:rPr>
                        <a:t>S_IXOTH</a:t>
                      </a:r>
                      <a:endParaRPr sz="180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DBF343D-ACD7-8FF9-F8E8-C1E31D2F8FE2}"/>
              </a:ext>
            </a:extLst>
          </p:cNvPr>
          <p:cNvSpPr>
            <a:spLocks noGrp="1"/>
          </p:cNvSpPr>
          <p:nvPr/>
        </p:nvSpPr>
        <p:spPr>
          <a:xfrm>
            <a:off x="3600450" y="2931319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 </a:t>
            </a:r>
            <a:endParaRPr sz="18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36BE33-6F0F-D298-EA7B-6D387DF8AA89}"/>
              </a:ext>
            </a:extLst>
          </p:cNvPr>
          <p:cNvSpPr>
            <a:spLocks noGrp="1"/>
          </p:cNvSpPr>
          <p:nvPr/>
        </p:nvSpPr>
        <p:spPr>
          <a:xfrm>
            <a:off x="2497323" y="1462256"/>
            <a:ext cx="72806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Modo</a:t>
            </a:r>
          </a:p>
          <a:p>
            <a:pPr marL="742950" lvl="1" indent="-285750">
              <a:buFont typeface="Arial"/>
              <a:buChar char="•"/>
            </a:pPr>
            <a:r>
              <a:rPr sz="2400"/>
              <a:t>se combinan con |</a:t>
            </a:r>
          </a:p>
          <a:p>
            <a:pPr marL="742950" lvl="1" indent="-285750">
              <a:buFont typeface="Arial"/>
              <a:buChar char="•"/>
            </a:pPr>
            <a:r>
              <a:rPr sz="2400"/>
              <a:t>sólo se usa al crear un archivo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15F8A15-AAB8-9AF9-5AEA-3D81509AF9B2}"/>
              </a:ext>
            </a:extLst>
          </p:cNvPr>
          <p:cNvSpPr>
            <a:spLocks noGrp="1"/>
          </p:cNvSpPr>
          <p:nvPr/>
        </p:nvSpPr>
        <p:spPr>
          <a:xfrm>
            <a:off x="31750" y="15678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archivos | modo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EB9B69D-DBF9-922B-B2B1-3C85611D9766}"/>
              </a:ext>
            </a:extLst>
          </p:cNvPr>
          <p:cNvSpPr>
            <a:spLocks noGrp="1"/>
          </p:cNvSpPr>
          <p:nvPr/>
        </p:nvSpPr>
        <p:spPr>
          <a:xfrm>
            <a:off x="2497323" y="902264"/>
            <a:ext cx="789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</a:t>
            </a:r>
            <a:r>
              <a:rPr sz="240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400" b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&lt;sys/stat.h&gt;</a:t>
            </a:r>
            <a:endParaRPr sz="24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43052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7C7EFF-991F-C850-C3B4-98989AD0D0B7}"/>
              </a:ext>
            </a:extLst>
          </p:cNvPr>
          <p:cNvSpPr>
            <a:spLocks noGrp="1"/>
          </p:cNvSpPr>
          <p:nvPr/>
        </p:nvSpPr>
        <p:spPr>
          <a:xfrm>
            <a:off x="31750" y="9605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archivos | close()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5358E23-7513-A7AF-4E5D-ECA416C4571E}"/>
              </a:ext>
            </a:extLst>
          </p:cNvPr>
          <p:cNvSpPr>
            <a:spLocks noGrp="1"/>
          </p:cNvSpPr>
          <p:nvPr/>
        </p:nvSpPr>
        <p:spPr>
          <a:xfrm>
            <a:off x="253818" y="835392"/>
            <a:ext cx="11750948" cy="606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 &lt;unistd.h&gt;  /* close */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int close(int fd);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</a:pPr>
            <a:r>
              <a:t>Cierra un descriptor que estaba abierto.</a:t>
            </a:r>
            <a:endParaRPr sz="2000" b="0" i="0" u="none" baseline="0"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Retorno:</a:t>
            </a: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0: el descriptor se cerró correctamente.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-1: error; revisar errno.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Parámetro:</a:t>
            </a:r>
            <a:endParaRPr sz="2000" b="1" i="0" u="none" baseline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fd: descriptor que se quiere cerrar.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Importante: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Al cerrarlo, el descriptor queda disponible para ser reutilizado.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Después de close(fd), no se debe volver a usar fd.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Un error de escritura también puede detectarse al cerrar.</a:t>
            </a:r>
          </a:p>
        </p:txBody>
      </p:sp>
    </p:spTree>
    <p:extLst>
      <p:ext uri="{BB962C8B-B14F-4D97-AF65-F5344CB8AC3E}">
        <p14:creationId xmlns:p14="http://schemas.microsoft.com/office/powerpoint/2010/main" val="825542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7C7EFF-991F-C850-C3B4-98989AD0D0B7}"/>
              </a:ext>
            </a:extLst>
          </p:cNvPr>
          <p:cNvSpPr>
            <a:spLocks noGrp="1"/>
          </p:cNvSpPr>
          <p:nvPr/>
        </p:nvSpPr>
        <p:spPr>
          <a:xfrm>
            <a:off x="31750" y="9605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dirty="0" err="1">
                <a:latin typeface="Consolas"/>
                <a:ea typeface="Consolas"/>
                <a:cs typeface="Consolas"/>
              </a:rPr>
              <a:t>archivos</a:t>
            </a:r>
            <a:r>
              <a:rPr sz="4400" b="1" dirty="0">
                <a:latin typeface="Consolas"/>
                <a:ea typeface="Consolas"/>
                <a:cs typeface="Consolas"/>
              </a:rPr>
              <a:t> | read()</a:t>
            </a:r>
            <a:endParaRPr sz="4400" dirty="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5358E23-7513-A7AF-4E5D-ECA416C4571E}"/>
              </a:ext>
            </a:extLst>
          </p:cNvPr>
          <p:cNvSpPr>
            <a:spLocks noGrp="1"/>
          </p:cNvSpPr>
          <p:nvPr/>
        </p:nvSpPr>
        <p:spPr>
          <a:xfrm>
            <a:off x="253818" y="835392"/>
            <a:ext cx="11750948" cy="606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 &lt;unistd.h&gt;  /* read */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ssize_t read(int fd, void *buffer, size_t cantidad);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</a:pPr>
            <a:r>
              <a:t>Lee hasta cantidad bytes desde el recurso hacia buffer.</a:t>
            </a:r>
            <a:endParaRPr sz="2000" b="0" i="0" u="none" baseline="0"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Retorno:</a:t>
            </a: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&gt; 0: cantidad de bytes leídos.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0: fin de archivo (EOF).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-1: error; revisar errno.</a:t>
            </a:r>
            <a:endParaRPr sz="2000" b="1" i="0" u="none" baseline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Parámetros: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fd: descriptor abierto para lectura.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buffer: zona de memoria donde se copian los bytes.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cantidad: máximo de bytes que se intenta leer.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Nota: puede devolver menos bytes que cantidad.</a:t>
            </a:r>
          </a:p>
        </p:txBody>
      </p:sp>
    </p:spTree>
    <p:extLst>
      <p:ext uri="{BB962C8B-B14F-4D97-AF65-F5344CB8AC3E}">
        <p14:creationId xmlns:p14="http://schemas.microsoft.com/office/powerpoint/2010/main" val="825542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7C7EFF-991F-C850-C3B4-98989AD0D0B7}"/>
              </a:ext>
            </a:extLst>
          </p:cNvPr>
          <p:cNvSpPr>
            <a:spLocks noGrp="1"/>
          </p:cNvSpPr>
          <p:nvPr/>
        </p:nvSpPr>
        <p:spPr>
          <a:xfrm>
            <a:off x="31750" y="9605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archivos | write()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5358E23-7513-A7AF-4E5D-ECA416C4571E}"/>
              </a:ext>
            </a:extLst>
          </p:cNvPr>
          <p:cNvSpPr>
            <a:spLocks noGrp="1"/>
          </p:cNvSpPr>
          <p:nvPr/>
        </p:nvSpPr>
        <p:spPr>
          <a:xfrm>
            <a:off x="253818" y="835392"/>
            <a:ext cx="11750948" cy="606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 &lt;unistd.h&gt;  /* write */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ssize_t write(int fd, const void *buffer, size_t cantidad);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</a:pPr>
            <a:r>
              <a:t>Escribe hasta cantidad bytes desde buffer hacia el recurso.</a:t>
            </a:r>
            <a:endParaRPr sz="2000" b="0" i="0" u="none" baseline="0"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Retorno:</a:t>
            </a: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&gt;= 0: cantidad de bytes escritos.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-1: error; revisar errno.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Parámetros:</a:t>
            </a:r>
            <a:endParaRPr sz="2000" b="1" i="0" u="none" baseline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fd: descriptor abierto para escritura.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buffer: zona de memoria con los bytes a escribir.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cantidad: máximo de bytes que se intenta escribir.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Nota: puede escribir menos bytes que cantidad.</a:t>
            </a:r>
          </a:p>
        </p:txBody>
      </p:sp>
    </p:spTree>
    <p:extLst>
      <p:ext uri="{BB962C8B-B14F-4D97-AF65-F5344CB8AC3E}">
        <p14:creationId xmlns:p14="http://schemas.microsoft.com/office/powerpoint/2010/main" val="825542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7C7EFF-991F-C850-C3B4-98989AD0D0B7}"/>
              </a:ext>
            </a:extLst>
          </p:cNvPr>
          <p:cNvSpPr>
            <a:spLocks noGrp="1"/>
          </p:cNvSpPr>
          <p:nvPr/>
        </p:nvSpPr>
        <p:spPr>
          <a:xfrm>
            <a:off x="31750" y="9605"/>
            <a:ext cx="12160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>
                <a:latin typeface="Consolas"/>
                <a:ea typeface="Consolas"/>
                <a:cs typeface="Consolas"/>
              </a:rPr>
              <a:t>archivos | lseek()</a:t>
            </a:r>
            <a:endParaRPr sz="4400">
              <a:solidFill>
                <a:srgbClr val="FFC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5358E23-7513-A7AF-4E5D-ECA416C4571E}"/>
              </a:ext>
            </a:extLst>
          </p:cNvPr>
          <p:cNvSpPr>
            <a:spLocks noGrp="1"/>
          </p:cNvSpPr>
          <p:nvPr/>
        </p:nvSpPr>
        <p:spPr>
          <a:xfrm>
            <a:off x="253818" y="835392"/>
            <a:ext cx="11750948" cy="60631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 &lt;sys/types.h&gt;  /* off_t */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r>
              <a:rPr sz="20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#include &lt;unistd.h&gt;     /* lseek */</a:t>
            </a:r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endParaRPr sz="2000" b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r>
              <a:t>off_t lseek(int fd, off_t desplazamiento, int referencia);</a:t>
            </a:r>
          </a:p>
          <a:p>
            <a:pPr algn="l">
              <a:buNone/>
            </a:pPr>
            <a:endParaRPr sz="2000" b="0" i="0" u="none" baseline="0"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Cambia la posición actual dentro de un archivo.</a:t>
            </a: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Retorno: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nueva posición, medida en bytes.</a:t>
            </a:r>
          </a:p>
          <a:p>
            <a:pPr marL="800100" lvl="1" indent="-342900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-1: error; revisar errno.</a:t>
            </a:r>
            <a:endParaRPr sz="2000" b="1" i="0" u="none" baseline="0">
              <a:solidFill>
                <a:srgbClr val="00B0F0"/>
              </a:solidFill>
              <a:latin typeface="Consolas"/>
              <a:ea typeface="Consolas"/>
              <a:cs typeface="Consolas"/>
            </a:endParaRPr>
          </a:p>
          <a:p>
            <a:pPr marL="342900" indent="-342900" algn="l">
              <a:buFont typeface="Arial"/>
              <a:buChar char="•"/>
            </a:pPr>
            <a:r>
              <a:rPr sz="2000" b="0" i="0" u="none">
                <a:latin typeface="Consolas"/>
                <a:ea typeface="Consolas"/>
                <a:cs typeface="Consolas"/>
              </a:rPr>
              <a:t>Parámetros: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fd: descriptor del archivo.</a:t>
            </a:r>
          </a:p>
          <a:p>
            <a:pPr marL="800100" lvl="1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desplazamiento: cantidad de bytes que se mueve.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referencia: SEEK_SET, SEEK_CUR o SEEK_END.</a:t>
            </a:r>
          </a:p>
          <a:p>
            <a:pPr marL="1257300" lvl="2" indent="-342900">
              <a:buFont typeface="Arial"/>
              <a:buChar char="•"/>
            </a:pPr>
            <a:r>
              <a:rPr sz="2000" b="1" i="0" u="none">
                <a:latin typeface="Consolas"/>
                <a:ea typeface="Consolas"/>
                <a:cs typeface="Consolas"/>
              </a:rPr>
              <a:t>No todos los recursos admiten reposicionamiento.</a:t>
            </a:r>
          </a:p>
        </p:txBody>
      </p:sp>
    </p:spTree>
    <p:extLst>
      <p:ext uri="{BB962C8B-B14F-4D97-AF65-F5344CB8AC3E}">
        <p14:creationId xmlns:p14="http://schemas.microsoft.com/office/powerpoint/2010/main" val="825542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A6CAFC608084494F67714BCC1B699" ma:contentTypeVersion="16" ma:contentTypeDescription="Create a new document." ma:contentTypeScope="" ma:versionID="326c654531546497ade0132fde7161cf">
  <xsd:schema xmlns:xsd="http://www.w3.org/2001/XMLSchema" xmlns:xs="http://www.w3.org/2001/XMLSchema" xmlns:p="http://schemas.microsoft.com/office/2006/metadata/properties" xmlns:ns3="38b5eab3-a62f-4e89-a8fb-63035e99af77" xmlns:ns4="bc8e9d26-1dc9-4544-b49b-973a2f400d40" targetNamespace="http://schemas.microsoft.com/office/2006/metadata/properties" ma:root="true" ma:fieldsID="13b2111651e1ce72afb8a3861f27599a" ns3:_="" ns4:_="">
    <xsd:import namespace="38b5eab3-a62f-4e89-a8fb-63035e99af77"/>
    <xsd:import namespace="bc8e9d26-1dc9-4544-b49b-973a2f400d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b5eab3-a62f-4e89-a8fb-63035e99af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e9d26-1dc9-4544-b49b-973a2f400d4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b5eab3-a62f-4e89-a8fb-63035e99af77" xsi:nil="true"/>
  </documentManagement>
</p:properties>
</file>

<file path=customXml/itemProps1.xml><?xml version="1.0" encoding="utf-8"?>
<ds:datastoreItem xmlns:ds="http://schemas.openxmlformats.org/officeDocument/2006/customXml" ds:itemID="{1A3B7CBF-2E39-4850-921C-CA17352C4A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7A9757-ABDF-4637-8145-B1352F651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b5eab3-a62f-4e89-a8fb-63035e99af77"/>
    <ds:schemaRef ds:uri="bc8e9d26-1dc9-4544-b49b-973a2f400d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B62690-0E15-49C4-ABE1-2A772133B4CC}">
  <ds:schemaRefs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bc8e9d26-1dc9-4544-b49b-973a2f400d40"/>
    <ds:schemaRef ds:uri="http://schemas.microsoft.com/office/infopath/2007/PartnerControls"/>
    <ds:schemaRef ds:uri="38b5eab3-a62f-4e89-a8fb-63035e99af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1671</Words>
  <Application>Microsoft Office PowerPoint</Application>
  <DocSecurity>0</DocSecurity>
  <PresentationFormat>Panorámica</PresentationFormat>
  <Paragraphs>372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Oscar M Paniagua</cp:lastModifiedBy>
  <cp:revision>13</cp:revision>
  <dcterms:created xsi:type="dcterms:W3CDTF">2026-08-15T23:04:59Z</dcterms:created>
  <dcterms:modified xsi:type="dcterms:W3CDTF">2026-08-15T23:46:42Z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0x010100EC5A6CAFC608084494F67714BCC1B699</vt:lpwstr>
  </property>
</Properties>
</file>